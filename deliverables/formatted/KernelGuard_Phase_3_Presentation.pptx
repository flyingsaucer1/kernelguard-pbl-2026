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1ca56c5fc04ec3" /><Relationship Type="http://schemas.openxmlformats.org/officeDocument/2006/relationships/extended-properties" Target="/docProps/app.xml" Id="Ra39855f44d3b4479" /><Relationship Type="http://schemas.openxmlformats.org/officeDocument/2006/relationships/officeDocument" Target="/ppt/presentation.xml" Id="Re4717191599d4c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2bc0f3bdb74719"/>
  </p:sldMasterIdLst>
  <p:notesMasterIdLst>
    <p:notesMasterId xmlns:r="http://schemas.openxmlformats.org/officeDocument/2006/relationships" r:id="Re0c825e91d134533"/>
  </p:notesMasterIdLst>
  <p:sldIdLst>
    <p:sldId xmlns:r="http://schemas.openxmlformats.org/officeDocument/2006/relationships" id="256" r:id="R02e2296b3ac345b7"/>
    <p:sldId xmlns:r="http://schemas.openxmlformats.org/officeDocument/2006/relationships" id="257" r:id="R87d6f0d6548d45e4"/>
    <p:sldId xmlns:r="http://schemas.openxmlformats.org/officeDocument/2006/relationships" id="258" r:id="R1a0253b57bef4420"/>
    <p:sldId xmlns:r="http://schemas.openxmlformats.org/officeDocument/2006/relationships" id="259" r:id="R2e35bd7c94f74aa9"/>
    <p:sldId xmlns:r="http://schemas.openxmlformats.org/officeDocument/2006/relationships" id="260" r:id="R7e45e434e8324e86"/>
    <p:sldId xmlns:r="http://schemas.openxmlformats.org/officeDocument/2006/relationships" id="261" r:id="R1fb03be16c9e4701"/>
    <p:sldId xmlns:r="http://schemas.openxmlformats.org/officeDocument/2006/relationships" id="262" r:id="R7129940ead8f48da"/>
    <p:sldId xmlns:r="http://schemas.openxmlformats.org/officeDocument/2006/relationships" id="263" r:id="R164ed14b3b45476a"/>
    <p:sldId xmlns:r="http://schemas.openxmlformats.org/officeDocument/2006/relationships" id="264" r:id="R47a65d81d64f4524"/>
    <p:sldId xmlns:r="http://schemas.openxmlformats.org/officeDocument/2006/relationships" id="265" r:id="R1b411ec356404a50"/>
    <p:sldId xmlns:r="http://schemas.openxmlformats.org/officeDocument/2006/relationships" id="266" r:id="R16d99fcc9a9f4583"/>
    <p:sldId xmlns:r="http://schemas.openxmlformats.org/officeDocument/2006/relationships" id="267" r:id="Rdc2d285ddf2f42c4"/>
    <p:sldId xmlns:r="http://schemas.openxmlformats.org/officeDocument/2006/relationships" id="268" r:id="Rd842848d220d4116"/>
    <p:sldId xmlns:r="http://schemas.openxmlformats.org/officeDocument/2006/relationships" id="269" r:id="R97a7c2a90ffc49b0"/>
    <p:sldId xmlns:r="http://schemas.openxmlformats.org/officeDocument/2006/relationships" id="270" r:id="R5a6629ba9baf4a2d"/>
    <p:sldId xmlns:r="http://schemas.openxmlformats.org/officeDocument/2006/relationships" id="271" r:id="R436de90f4f0a4278"/>
    <p:sldId xmlns:r="http://schemas.openxmlformats.org/officeDocument/2006/relationships" id="272" r:id="R42bbed8c9e2f452c"/>
    <p:sldId xmlns:r="http://schemas.openxmlformats.org/officeDocument/2006/relationships" id="273" r:id="Re9ae4eb754084d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7870496c654928" /><Relationship Type="http://schemas.openxmlformats.org/officeDocument/2006/relationships/slideMaster" Target="/ppt/slideMasters/slideMaster1.xml" Id="Ref2bc0f3bdb74719" /><Relationship Type="http://schemas.openxmlformats.org/officeDocument/2006/relationships/notesMaster" Target="/ppt/notesMasters/notesMaster1.xml" Id="Re0c825e91d134533" /><Relationship Type="http://schemas.openxmlformats.org/officeDocument/2006/relationships/presProps" Target="/ppt/presProps.xml" Id="R1bdca24615be469f" /><Relationship Type="http://schemas.openxmlformats.org/officeDocument/2006/relationships/tableStyles" Target="/ppt/tableStyles.xml" Id="R320e23a2b050405c" /><Relationship Type="http://schemas.openxmlformats.org/officeDocument/2006/relationships/slide" Target="/ppt/slides/slide1.xml" Id="R02e2296b3ac345b7" /><Relationship Type="http://schemas.openxmlformats.org/officeDocument/2006/relationships/slide" Target="/ppt/slides/slide2.xml" Id="R87d6f0d6548d45e4" /><Relationship Type="http://schemas.openxmlformats.org/officeDocument/2006/relationships/slide" Target="/ppt/slides/slide3.xml" Id="R1a0253b57bef4420" /><Relationship Type="http://schemas.openxmlformats.org/officeDocument/2006/relationships/slide" Target="/ppt/slides/slide4.xml" Id="R2e35bd7c94f74aa9" /><Relationship Type="http://schemas.openxmlformats.org/officeDocument/2006/relationships/slide" Target="/ppt/slides/slide5.xml" Id="R7e45e434e8324e86" /><Relationship Type="http://schemas.openxmlformats.org/officeDocument/2006/relationships/slide" Target="/ppt/slides/slide6.xml" Id="R1fb03be16c9e4701" /><Relationship Type="http://schemas.openxmlformats.org/officeDocument/2006/relationships/slide" Target="/ppt/slides/slide7.xml" Id="R7129940ead8f48da" /><Relationship Type="http://schemas.openxmlformats.org/officeDocument/2006/relationships/slide" Target="/ppt/slides/slide8.xml" Id="R164ed14b3b45476a" /><Relationship Type="http://schemas.openxmlformats.org/officeDocument/2006/relationships/slide" Target="/ppt/slides/slide9.xml" Id="R47a65d81d64f4524" /><Relationship Type="http://schemas.openxmlformats.org/officeDocument/2006/relationships/slide" Target="/ppt/slides/slide10.xml" Id="R1b411ec356404a50" /><Relationship Type="http://schemas.openxmlformats.org/officeDocument/2006/relationships/slide" Target="/ppt/slides/slide11.xml" Id="R16d99fcc9a9f4583" /><Relationship Type="http://schemas.openxmlformats.org/officeDocument/2006/relationships/slide" Target="/ppt/slides/slide12.xml" Id="Rdc2d285ddf2f42c4" /><Relationship Type="http://schemas.openxmlformats.org/officeDocument/2006/relationships/slide" Target="/ppt/slides/slide13.xml" Id="Rd842848d220d4116" /><Relationship Type="http://schemas.openxmlformats.org/officeDocument/2006/relationships/slide" Target="/ppt/slides/slide14.xml" Id="R97a7c2a90ffc49b0" /><Relationship Type="http://schemas.openxmlformats.org/officeDocument/2006/relationships/slide" Target="/ppt/slides/slide15.xml" Id="R5a6629ba9baf4a2d" /><Relationship Type="http://schemas.openxmlformats.org/officeDocument/2006/relationships/slide" Target="/ppt/slides/slide16.xml" Id="R436de90f4f0a4278" /><Relationship Type="http://schemas.openxmlformats.org/officeDocument/2006/relationships/slide" Target="/ppt/slides/slide17.xml" Id="R42bbed8c9e2f452c" /><Relationship Type="http://schemas.openxmlformats.org/officeDocument/2006/relationships/slide" Target="/ppt/slides/slide18.xml" Id="Re9ae4eb754084d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4d5cda7dfc45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637681179242dc" /><Relationship Type="http://schemas.openxmlformats.org/officeDocument/2006/relationships/notesMaster" Target="/ppt/notesMasters/notesMaster1.xml" Id="R145bb4b8fced45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fdced6fe2b4e4a" /><Relationship Type="http://schemas.openxmlformats.org/officeDocument/2006/relationships/notesMaster" Target="/ppt/notesMasters/notesMaster1.xml" Id="R28880d6325d149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dfcdc936924c4e" /><Relationship Type="http://schemas.openxmlformats.org/officeDocument/2006/relationships/notesMaster" Target="/ppt/notesMasters/notesMaster1.xml" Id="R11eb73449fa647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3c642d4ebe4286" /><Relationship Type="http://schemas.openxmlformats.org/officeDocument/2006/relationships/notesMaster" Target="/ppt/notesMasters/notesMaster1.xml" Id="R13a2b005b24149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0b333449554ccc" /><Relationship Type="http://schemas.openxmlformats.org/officeDocument/2006/relationships/notesMaster" Target="/ppt/notesMasters/notesMaster1.xml" Id="Re6b7e4def9714e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1adb2a0eee4d26" /><Relationship Type="http://schemas.openxmlformats.org/officeDocument/2006/relationships/notesMaster" Target="/ppt/notesMasters/notesMaster1.xml" Id="R5d24db8aae134a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c830ed9bc7410b" /><Relationship Type="http://schemas.openxmlformats.org/officeDocument/2006/relationships/notesMaster" Target="/ppt/notesMasters/notesMaster1.xml" Id="Rf25153088c2040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65b3e2f2cf411d" /><Relationship Type="http://schemas.openxmlformats.org/officeDocument/2006/relationships/notesMaster" Target="/ppt/notesMasters/notesMaster1.xml" Id="Rf87beda18f5945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f1049dc4a84dd0" /><Relationship Type="http://schemas.openxmlformats.org/officeDocument/2006/relationships/notesMaster" Target="/ppt/notesMasters/notesMaster1.xml" Id="Rdffde644dcaf40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67e1690aac4d05" /><Relationship Type="http://schemas.openxmlformats.org/officeDocument/2006/relationships/notesMaster" Target="/ppt/notesMasters/notesMaster1.xml" Id="R61ba058054dc4f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770f9a3f4f40bc" /><Relationship Type="http://schemas.openxmlformats.org/officeDocument/2006/relationships/notesMaster" Target="/ppt/notesMasters/notesMaster1.xml" Id="Refb8919b133341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b1cbc18748460e" /><Relationship Type="http://schemas.openxmlformats.org/officeDocument/2006/relationships/notesMaster" Target="/ppt/notesMasters/notesMaster1.xml" Id="R2119c8c8fcfe40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d0ccc08db54b0b" /><Relationship Type="http://schemas.openxmlformats.org/officeDocument/2006/relationships/notesMaster" Target="/ppt/notesMasters/notesMaster1.xml" Id="R34fa4d2de15e4f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c87d8f81424f3f" /><Relationship Type="http://schemas.openxmlformats.org/officeDocument/2006/relationships/notesMaster" Target="/ppt/notesMasters/notesMaster1.xml" Id="R3a86f5fbd1264c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75bf7347a64c6f" /><Relationship Type="http://schemas.openxmlformats.org/officeDocument/2006/relationships/notesMaster" Target="/ppt/notesMasters/notesMaster1.xml" Id="Red4b61e282e64b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6cb0887a404bee" /><Relationship Type="http://schemas.openxmlformats.org/officeDocument/2006/relationships/notesMaster" Target="/ppt/notesMasters/notesMaster1.xml" Id="R22b1799b1ae141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060ab8851f4b73" /><Relationship Type="http://schemas.openxmlformats.org/officeDocument/2006/relationships/notesMaster" Target="/ppt/notesMasters/notesMaster1.xml" Id="R7010f205bc0f4c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f6b66cc2bb4a14" /><Relationship Type="http://schemas.openxmlformats.org/officeDocument/2006/relationships/notesMaster" Target="/ppt/notesMasters/notesMaster1.xml" Id="Rd921d5085b2d44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and title: supplied Phase 1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details and portraits: supplied Phase 1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C:\KernalGuard\README.md and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Phase 1 report; Phase 2 README.md; Phase 3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C:\KernalGuard\README.md and requirements.txt.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C:\KernalGuard\docs/LIVE_AUDIT_CHECK.md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C:\KernalGuard\docs/ARCHITECTURE.md; https://dev.mysql.com/doc/refman/8.4/en/create-table-foreign-keys.html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local pytest run; C:\KernalGuard\docs/EVALUATION.md, docs/LIVE_AUDIT_CHECK.md, docs/MYSQL84_DOCKER.md.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C:\KernalGuard\docs/EVALUATION.md and docs/evaluation.json. Not production throughput or field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git log/status and docs/contributions/README.md.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C:\KernalGuard\docs/contributions/README.md. Area allocation, not verified individual authorship.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C:\KernalGuard\docs/ARCHITECTURE.md and docs/ACCEPTANCE.md.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C:\KernalGuard\README.md, docs/MYSQL84_DOCKER.md and docs/ACCEPTANCE.md.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https://docs.redhat.com/en/documentation/red_hat_enterprise_linux/7/html/security_guide/sec-understanding_audit_log_files ; https://docs.sqlalchemy.org/en/20/core/connections.html ; https://dev.mysql.com/doc/refman/8.4/en/create-table-foreign-keys.html ; https://flask.palletsprojects.com/en/stable/web-security/ ; C:\KernalGuard\docs/ORIGINALITY_AND_ATTRIBUTION.md.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d542b8b804c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f6308ff2dc44f9" /><Relationship Type="http://schemas.openxmlformats.org/officeDocument/2006/relationships/slideLayout" Target="/ppt/slideLayouts/slideLayout1.xml" Id="R978aa01b4b8f42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8aa01b4b8f42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eb606f9394b61" /><Relationship Type="http://schemas.openxmlformats.org/officeDocument/2006/relationships/image" Target="/ppt/media/image.png" Id="R769cb0d42776447e" /><Relationship Type="http://schemas.openxmlformats.org/officeDocument/2006/relationships/notesSlide" Target="/ppt/notesSlides/notesSlide1.xml" Id="R4f78f994c4944e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45ccf23fa4934" /><Relationship Type="http://schemas.openxmlformats.org/officeDocument/2006/relationships/image" Target="/ppt/media/image2.png" Id="R3ee2321d28014ed4" /><Relationship Type="http://schemas.openxmlformats.org/officeDocument/2006/relationships/image" Target="/ppt/media/image.jpeg" Id="R7558d6345d8e407b" /><Relationship Type="http://schemas.openxmlformats.org/officeDocument/2006/relationships/image" Target="/ppt/media/image2.jpeg" Id="Rceaf1703ba0e4bb9" /><Relationship Type="http://schemas.openxmlformats.org/officeDocument/2006/relationships/image" Target="/ppt/media/image3.jpeg" Id="Rf69879f8368b4a60" /><Relationship Type="http://schemas.openxmlformats.org/officeDocument/2006/relationships/image" Target="/ppt/media/image4.jpeg" Id="Rd82c62c2db024ae8" /><Relationship Type="http://schemas.openxmlformats.org/officeDocument/2006/relationships/notesSlide" Target="/ppt/notesSlides/notesSlide2.xml" Id="R76c345bc3d874d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4a9723f08407e" /><Relationship Type="http://schemas.openxmlformats.org/officeDocument/2006/relationships/image" Target="/ppt/media/image3.png" Id="R567aa1d3a0b74946" /><Relationship Type="http://schemas.openxmlformats.org/officeDocument/2006/relationships/notesSlide" Target="/ppt/notesSlides/notesSlide3.xml" Id="Rc82233dce7af43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6eb639bf84bcd" /><Relationship Type="http://schemas.openxmlformats.org/officeDocument/2006/relationships/image" Target="/ppt/media/image4.png" Id="R758c72a3d4c847f3" /><Relationship Type="http://schemas.openxmlformats.org/officeDocument/2006/relationships/notesSlide" Target="/ppt/notesSlides/notesSlide4.xml" Id="Rdda18e9b3a5d43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389b2a5ed442f" /><Relationship Type="http://schemas.openxmlformats.org/officeDocument/2006/relationships/image" Target="/ppt/media/image5.png" Id="R550bddeecdc24cc5" /><Relationship Type="http://schemas.openxmlformats.org/officeDocument/2006/relationships/notesSlide" Target="/ppt/notesSlides/notesSlide5.xml" Id="Rac970640037f44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cf34a539941de" /><Relationship Type="http://schemas.openxmlformats.org/officeDocument/2006/relationships/image" Target="/ppt/media/image6.png" Id="R4efc54090b154eff" /><Relationship Type="http://schemas.openxmlformats.org/officeDocument/2006/relationships/notesSlide" Target="/ppt/notesSlides/notesSlide6.xml" Id="Rfc2b34ec197f41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b72613bfe44ba" /><Relationship Type="http://schemas.openxmlformats.org/officeDocument/2006/relationships/image" Target="/ppt/media/image7.png" Id="Rcdd3c6d6ba7c4ff4" /><Relationship Type="http://schemas.openxmlformats.org/officeDocument/2006/relationships/notesSlide" Target="/ppt/notesSlides/notesSlide7.xml" Id="Rbc6b4040e51b40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29580f21b401c" /><Relationship Type="http://schemas.openxmlformats.org/officeDocument/2006/relationships/image" Target="/ppt/media/image8.png" Id="Rd2a3356f378a4a62" /><Relationship Type="http://schemas.openxmlformats.org/officeDocument/2006/relationships/notesSlide" Target="/ppt/notesSlides/notesSlide8.xml" Id="R0ded7e9bbe174f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4bbe16e214a09" /><Relationship Type="http://schemas.openxmlformats.org/officeDocument/2006/relationships/image" Target="/ppt/media/image9.png" Id="Ra5b86ddb405f4c4d" /><Relationship Type="http://schemas.openxmlformats.org/officeDocument/2006/relationships/notesSlide" Target="/ppt/notesSlides/notesSlide9.xml" Id="Rf1d92976de5448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0685069f2460f" /><Relationship Type="http://schemas.openxmlformats.org/officeDocument/2006/relationships/image" Target="/ppt/media/image10.png" Id="Rd7c09d84e5fd47ab" /><Relationship Type="http://schemas.openxmlformats.org/officeDocument/2006/relationships/notesSlide" Target="/ppt/notesSlides/notesSlide10.xml" Id="R056ac51afa0149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fbe9b59b840fb" /><Relationship Type="http://schemas.openxmlformats.org/officeDocument/2006/relationships/image" Target="/ppt/media/image11.png" Id="Rdc909fa7b431480a" /><Relationship Type="http://schemas.openxmlformats.org/officeDocument/2006/relationships/notesSlide" Target="/ppt/notesSlides/notesSlide11.xml" Id="R39431d9ed25b4d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bd92bfd844976" /><Relationship Type="http://schemas.openxmlformats.org/officeDocument/2006/relationships/image" Target="/ppt/media/image12.png" Id="R03b6a938663846e3" /><Relationship Type="http://schemas.openxmlformats.org/officeDocument/2006/relationships/notesSlide" Target="/ppt/notesSlides/notesSlide12.xml" Id="R83c5fd1dc21e47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1e872f52e413b" /><Relationship Type="http://schemas.openxmlformats.org/officeDocument/2006/relationships/image" Target="/ppt/media/image13.png" Id="R509e1fb0846640e1" /><Relationship Type="http://schemas.openxmlformats.org/officeDocument/2006/relationships/notesSlide" Target="/ppt/notesSlides/notesSlide13.xml" Id="Rf19a5371659444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a27ddb9c3403c" /><Relationship Type="http://schemas.openxmlformats.org/officeDocument/2006/relationships/image" Target="/ppt/media/image14.png" Id="R8157187de6aa4302" /><Relationship Type="http://schemas.openxmlformats.org/officeDocument/2006/relationships/notesSlide" Target="/ppt/notesSlides/notesSlide14.xml" Id="Re9bf03683a794a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d91771efc469a" /><Relationship Type="http://schemas.openxmlformats.org/officeDocument/2006/relationships/image" Target="/ppt/media/image15.png" Id="R3639c9a9e7774e1f" /><Relationship Type="http://schemas.openxmlformats.org/officeDocument/2006/relationships/notesSlide" Target="/ppt/notesSlides/notesSlide15.xml" Id="Rdacba6e1a71a43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f9cbcbe8e463c" /><Relationship Type="http://schemas.openxmlformats.org/officeDocument/2006/relationships/image" Target="/ppt/media/image16.png" Id="Rcbc417a6bf78410e" /><Relationship Type="http://schemas.openxmlformats.org/officeDocument/2006/relationships/notesSlide" Target="/ppt/notesSlides/notesSlide16.xml" Id="R30a953442da640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ca928fd9445fc" /><Relationship Type="http://schemas.openxmlformats.org/officeDocument/2006/relationships/image" Target="/ppt/media/image17.png" Id="Rd540fc6d2e9a4554" /><Relationship Type="http://schemas.openxmlformats.org/officeDocument/2006/relationships/notesSlide" Target="/ppt/notesSlides/notesSlide17.xml" Id="R7837bb2545f24b6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18f1f85264d03" /><Relationship Type="http://schemas.openxmlformats.org/officeDocument/2006/relationships/image" Target="/ppt/media/image18.png" Id="R65a4a4a7318c4cf1" /><Relationship Type="http://schemas.openxmlformats.org/officeDocument/2006/relationships/notesSlide" Target="/ppt/notesSlides/notesSlide18.xml" Id="R0392612977574f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cb0d42776447e"/>
          <a:stretch xmlns:a="http://schemas.openxmlformats.org/drawingml/2006/main"/>
        </p:blipFill>
        <p:spPr>
          <a:xfrm xmlns:a="http://schemas.openxmlformats.org/drawingml/2006/main">
            <a:off x="10648950" y="28575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AE080-FAE9-4902-A7FA-0BE50B15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Project-Based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0334F-855A-4C62-ADF3-60F3B919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Phase-III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2682B-5878-4436-B423-E75E7538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097FA-A310-4601-B2D4-6F3C09A4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434"/>
                </a:solidFill>
                <a:latin typeface="Arial"/>
                <a:ea typeface="Arial"/>
                <a:cs typeface="Arial"/>
              </a:rPr>
              <a:t>OS User Activity Monitoring &amp; Insider Threat Detection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10296-F83E-4FAC-ABFE-6ABF6460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769"/>
                </a:solidFill>
                <a:latin typeface="Arial"/>
                <a:ea typeface="Arial"/>
                <a:cs typeface="Arial"/>
              </a:rPr>
              <a:t>KernelGuard  |  Team ID: OSDBMS-V-2026-T298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8DA74-0E1C-4636-BCB3-CBDF3C68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OS (TCS 502) and DBMS (TCS 503)  |  Academic Session 2026–27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F700A-B888-4D16-B28F-24D94D63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Graphic Era (Deemed to be University), Dehradun</a:t>
            </a:r>
          </a:p>
        </p:txBody>
      </p:sp>
    </p:spTree>
    <p:extLst>
      <p:ext uri="{BB962C8B-B14F-4D97-AF65-F5344CB8AC3E}">
        <p14:creationId xmlns:p14="http://schemas.microsoft.com/office/powerpoint/2010/main" val="1238163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2321d28014ed4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C13B9-01CB-406B-BECF-E7F54E15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Team &amp; Mentor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E0502-BEBF-4F73-951C-FBBE12CC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BACE0-9A81-410A-BEAA-530AA98D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A6DBD-2454-43E8-B541-780DB668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2/18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0372E-3F16-4D42-BF50-8DCE1E71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71625"/>
            <a:ext cx="52578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6E3F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4A9E6-94FA-4959-BB37-A56DD3D3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85925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Team Information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1FF64-F1D2-464E-A345-808A0206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57400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Team ID: OSDBMS-V-2026-T298</a:t>
            </a:r>
          </a:p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Domain: OS activity monitoring and DBMS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079CA-9338-40C5-BD6D-06E4CD44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5391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6E3F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9D753-589F-4AC8-8C04-D63FC175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85925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Mentor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1DE07-B325-4B1A-9955-75431A0C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(Prof.)Dr.Mohammad Wazid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0A2B8-6C83-46F5-A79F-FD3F84B8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76550"/>
            <a:ext cx="952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Team Members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8d6345d8e407b"/>
          <a:stretch xmlns:a="http://schemas.openxmlformats.org/drawingml/2006/main"/>
        </p:blipFill>
        <p:spPr>
          <a:xfrm xmlns:a="http://schemas.openxmlformats.org/drawingml/2006/main">
            <a:off x="850091" y="3343275"/>
            <a:ext cx="1443069" cy="1809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1C7E5-9CB9-44E7-995A-C5D0F14F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276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Arshpreet Singh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92660-8E6B-4A5D-BD02-A24B5163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81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24021835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f1703ba0e4bb9"/>
          <a:stretch xmlns:a="http://schemas.openxmlformats.org/drawingml/2006/main"/>
        </p:blipFill>
        <p:spPr>
          <a:xfrm xmlns:a="http://schemas.openxmlformats.org/drawingml/2006/main">
            <a:off x="3581400" y="3457575"/>
            <a:ext cx="1581150" cy="15811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44F59-E5A0-49F8-92D4-6354CBA6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76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Mohd Ahmed Khan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21A6F-27FA-4B6C-8CBB-644D181B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81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24021365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879f8368b4a60"/>
          <a:stretch xmlns:a="http://schemas.openxmlformats.org/drawingml/2006/main"/>
        </p:blipFill>
        <p:spPr>
          <a:xfrm xmlns:a="http://schemas.openxmlformats.org/drawingml/2006/main">
            <a:off x="6456309" y="3343275"/>
            <a:ext cx="1432031" cy="1809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5DF28-0401-4615-8B6E-43C5AB35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276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Ankit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AA8D7-0F11-4198-ABD8-BD119366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581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240212134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c62c2db024ae8"/>
          <a:stretch xmlns:a="http://schemas.openxmlformats.org/drawingml/2006/main"/>
        </p:blipFill>
        <p:spPr>
          <a:xfrm xmlns:a="http://schemas.openxmlformats.org/drawingml/2006/main">
            <a:off x="9246506" y="3343275"/>
            <a:ext cx="1452339" cy="1809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C41AF-3A48-40EE-83A1-20BF86DC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276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Mohd Shoaib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5CE394-6F62-427F-968B-FB9DD520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581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240211124</a:t>
            </a:r>
          </a:p>
        </p:txBody>
      </p:sp>
    </p:spTree>
    <p:extLst>
      <p:ext uri="{BB962C8B-B14F-4D97-AF65-F5344CB8AC3E}">
        <p14:creationId xmlns:p14="http://schemas.microsoft.com/office/powerpoint/2010/main" val="11390571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aa1d3a0b74946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32C9C-7F44-4487-BD36-93CF804B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Project Abstract &amp; 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32AB9-6699-4990-A375-494F0BF4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B92A5-84F5-4F8F-BE46-68ECBBBE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3FA6A-9C52-4498-B8AB-D2873B3C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3/18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9B792-8AF9-4069-B501-09FA9E41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52575"/>
            <a:ext cx="10896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6E3F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1DB06-C9BD-4873-8D4B-5A609D24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1055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84389-C879-4520-947D-A9943158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KernelGuard combines local Linux activity evidence, relational storage and administrator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FBB6A-D7E7-476B-99C7-442CD027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57500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E541E-2E39-4ABD-AFE6-596246ED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57500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Audit records and sampled host inventory are difficult to assess in isolation.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E6227-B7B0-4583-94EF-8D85DC4E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480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E3494-DDA3-40E1-9824-8698581A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48075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Five deterministic rules link a policy match to its supporting events.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76F4A-763C-46D6-A9AE-615E6928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F262A-236D-4227-A177-3A81639C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38650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The dashboard preserves review and USB approval history.</a:t>
            </a:r>
          </a:p>
        </p:txBody>
      </p:sp>
    </p:spTree>
    <p:extLst>
      <p:ext uri="{BB962C8B-B14F-4D97-AF65-F5344CB8AC3E}">
        <p14:creationId xmlns:p14="http://schemas.microsoft.com/office/powerpoint/2010/main" val="19316595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c72a3d4c847f3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8EEA5-B5AD-4FAC-A8C3-F7526AD9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Objectives &amp; Final Deliverables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EAB99-2AAA-492D-8FC2-CB9E2E41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A9E06-A9EF-4E77-A3F0-79EA07B3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9099A-7A2A-4137-AF38-C3E959CF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4/18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6CADF-EA07-44D2-83C8-6268F97B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5CD06-DB86-44DD-A203-FBD5973C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Deliverables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FBF8E-76A4-4EBE-9971-91E2C4E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E9672-60AF-4BAA-8046-A51A2094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Collect audit and host inventory with stable identities.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E5169-2675-4C36-9B72-9191DB01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98FA7-3E13-49FD-903A-E93AAE10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Keep events, alerts and decisions relationally consistent.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D7FEB-912B-4523-8813-C36B079E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E5282-AF21-4A14-BEE5-C283B69E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Make each alert explainable.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E0901-48AA-408E-AE72-7D1D7412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821D2-AA5D-46B0-9B40-4565962C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Five policy families and evidence-linked alerts.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1B5AE-269C-4705-8382-F5963A70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847FC-DB08-4FC3-B4B5-C234FB62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User, process and USB inventory.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646FB-B0D2-4D85-9BE7-00AEA831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D50111-63A2-4259-A02A-73E61E4E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Authenticated dashboard, review history and setup guide.</a:t>
            </a:r>
          </a:p>
        </p:txBody>
      </p:sp>
    </p:spTree>
    <p:extLst>
      <p:ext uri="{BB962C8B-B14F-4D97-AF65-F5344CB8AC3E}">
        <p14:creationId xmlns:p14="http://schemas.microsoft.com/office/powerpoint/2010/main" val="1935140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bddeecdc24cc5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E3B74-3287-4771-81EB-BE0648EA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Phase-I &amp; Phase-II Feedback Incorporated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F4BAE-E8F9-48BF-B30A-D60795D4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2A71D-E322-46D0-BCFF-C75AE79E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E8706-55E5-44C3-B52A-B064A353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5/18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07E43-C5FE-45FB-9C9A-376B4ADF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Earlier milestones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CD04A-82F9-4947-BC22-D7A7B907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Final integration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68BA6-F669-4FEF-8B66-BD6CEAD5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221F3-77C5-48E5-8A9A-FF9F39F8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Phase I proposed a local activity monitor.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2E6C9-3F63-484C-8EB8-746CBE7E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17E0E-DD5C-4FD6-B69C-67C45909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Phase II demonstrated audit ingestion, MySQL and two rules.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78969-6367-4E4B-A290-D99BE976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354F7-22CA-43E0-A453-BD1ABD0A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Phase III adds sampled inventory and three policies.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CADDB-F9CA-43B5-A8F9-83C4EE27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BF8B49-E805-41B0-8A18-D87B07DC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Administrator actions now keep decision history.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89D7E-12E6-48F0-8AB8-F5CBD401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5C65B-7480-4876-9502-27465156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No separate written mentor feedback was supplied.</a:t>
            </a:r>
          </a:p>
        </p:txBody>
      </p:sp>
    </p:spTree>
    <p:extLst>
      <p:ext uri="{BB962C8B-B14F-4D97-AF65-F5344CB8AC3E}">
        <p14:creationId xmlns:p14="http://schemas.microsoft.com/office/powerpoint/2010/main" val="624837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c54090b154eff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72BA8-EA61-4C6F-8CE8-F1520607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Final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89414-BF5F-4C24-B145-8C851C2D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862D8-DBB5-411E-886E-A81E8A70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86380-4A43-4E0D-B1EB-D8D865C1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6/18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82309-E0C9-4E39-81DB-729619D2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38425"/>
            <a:ext cx="2019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BED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1D81D-75FC-4ADA-BFCA-6C077957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Audit + host</a:t>
            </a:r>
          </a:p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98FEB-10D2-423B-925A-18C04DBE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57525"/>
            <a:ext cx="19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034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05569-7EBD-4247-A9DB-91D31093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38425"/>
            <a:ext cx="2019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BED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0178A-1823-4368-B5AD-DF6D6DD6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003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Parser +</a:t>
            </a:r>
          </a:p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1D77D-0566-45C9-A24E-7749B2AC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57525"/>
            <a:ext cx="19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034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9AFB1-60C4-4697-8F8B-35000D3E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38425"/>
            <a:ext cx="2019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BED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21DB4-3639-45DD-A959-085F6CA3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03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Locked DB</a:t>
            </a:r>
          </a:p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transactions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3FE95-1508-4781-BF6A-8F97EC4E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57525"/>
            <a:ext cx="19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034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32CDE-44B1-42D0-95A9-B166B114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38425"/>
            <a:ext cx="2019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BED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7C183-4966-4853-99CC-D583575B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003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Five policy</a:t>
            </a:r>
          </a:p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A12C9-8DA2-4A78-960D-EA5738C0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57525"/>
            <a:ext cx="19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034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1362E-1127-4A83-AAC5-08AA3CFB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38425"/>
            <a:ext cx="2019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BED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D6500-F302-4687-911C-027E0ACF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03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Authenticated</a:t>
            </a:r>
          </a:p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353839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3c6d6ba7c4ff4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34BA4-3D2C-43C7-AE4D-07E2DF6F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Final 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FFF4D-7D90-44E5-9093-2D0CC728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BDCBF-9BB0-49D0-A260-DEC2E67A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1C04F-9D96-46A7-BC0D-87C6D463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7/18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BDDC9-7757-4BBF-B7AE-2DDDB46F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Collection and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E56A7-6A85-4419-9724-66769A1D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Storage and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B3DFD-3D80-4DE2-AC2E-EFC0293F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F3FEA-B256-4871-8A9F-6B9D44CD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auditd, ausearch, procfs, pwd and pyudev.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7131D-FEC1-4B9C-9C4A-926CDAD9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E376C-CC55-4D87-BFC9-6D4A122A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Python, psutil and Pydantic validation.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C6F83-4577-4915-8B1D-B1573DEE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9B6EA-0903-4941-B994-FF2D967A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SQLAlchemy transactions and Portalocker.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A6717-6F8E-406E-AF5E-809A346A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8BFBD-4698-45FE-A706-A5CE5866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MySQL/InnoDB deployment; SQLite demo.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14162-F504-402F-9F0C-D85DD2EE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D23B5-8AC4-459A-816C-CEE58538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Flask templates, sessions and CSRF checks.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D6C9B-F3C0-4337-B6DA-FCB6818F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6262D-459C-4FDF-BBFA-63379DF9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Waitress on localhost.</a:t>
            </a:r>
          </a:p>
        </p:txBody>
      </p:sp>
    </p:spTree>
    <p:extLst>
      <p:ext uri="{BB962C8B-B14F-4D97-AF65-F5344CB8AC3E}">
        <p14:creationId xmlns:p14="http://schemas.microsoft.com/office/powerpoint/2010/main" val="405988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3356f378a4a62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9BD8F-EB16-4584-BD59-3F3D8047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Implementation of PBL Course Concepts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413FB-1C05-4EB7-B56B-DBC8EE5C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30EDE-B356-4CB2-9325-F565FFB3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78537-2070-4110-A58E-E4501FA1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8/18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733550"/>
          <a:ext xmlns:a="http://schemas.openxmlformats.org/drawingml/2006/main" cx="108013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572000"/>
                <a:gridCol w="3419475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Course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Concept implemented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Project evidence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Operating Systems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Audit, process lifecycle, boot/session identity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Parser and inventory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DBMS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17 tables, FKs, joins, transactions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Schema and persistence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Security Engineering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Policy checks and review history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Rules and dashboard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928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86ddb405f4c4d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96A48-F0D0-4B91-84C4-438231D8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Module-Wise Final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BED18-2BA0-4DB9-A98D-42DCCCD0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5FF39-EB2C-42BD-8E69-5B7EB7F9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966B3-4CC2-43A4-AFC4-BE75E573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9/18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733550"/>
          <a:ext xmlns:a="http://schemas.openxmlformats.org/drawingml/2006/main" cx="108013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429250"/>
                <a:gridCol w="299085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Implemented behavior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Audit collection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Grouping, identity and replay 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parser.py, core.py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Inventory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Users, processes, USB 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inventory/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Detection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Five evidence-linked policies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activity_rules.py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Administrator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Login, CSRF and retained decisions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auth.py, reviews.py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966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09d84e5fd47ab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70BAE-8732-44D7-AB60-2675314F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Working System / Prototype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09EB1-1D25-49FD-9618-C4D14C5B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17A6E-BCF5-4C7B-A626-C95589CC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ED77D-68C8-4806-A79B-42405C50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10/18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39356-17C1-480A-AFE0-95A017C2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52575"/>
            <a:ext cx="10896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6E3F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8CBB3-DC2D-4936-A69F-2F324551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1055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91AFA-E35A-4488-9314-071570A0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The demo and Kali deployments show the complete event-to-review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6449A-8158-475F-94F6-0E91AA56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57500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86B66-6F43-405D-976A-06DF0C29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57500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Trace a controlled protected-file read to an event and alert.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4C979-DE84-44EB-86AB-44DE8AAF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480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20512-4463-48C3-AF33-AA3F9BF8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48075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Inspect linked evidence and the policy snapshot.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5E9F5-AB60-4D34-ABFD-4C5C609B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26174-C7EE-4949-9C83-090497C4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38650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Review an alert and inspect retained decision history.</a:t>
            </a:r>
          </a:p>
        </p:txBody>
      </p:sp>
    </p:spTree>
    <p:extLst>
      <p:ext uri="{BB962C8B-B14F-4D97-AF65-F5344CB8AC3E}">
        <p14:creationId xmlns:p14="http://schemas.microsoft.com/office/powerpoint/2010/main" val="7042663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09fa7b431480a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E7E7E-4D3F-4568-B4BD-F0F716C3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Data / Database / Backend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0728A-DB13-4E92-B076-90E756B5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7CEF1-A1E8-4B4E-ADD2-890600D4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6D6CA-8A00-46BF-8937-CB947107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11/18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D3E6C-C057-4F53-B905-F2AAB19F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Relational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4D917-206E-4498-B380-35A2F65B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Identity and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C9DAB-210B-41CB-9527-82249C0A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CCA33-467F-4DCD-AFA3-2B4680DF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17 MySQL tables with InnoDB foreign keys.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F6DC2-C038-4CC1-8F38-9DB3008A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5578D-D88A-4B05-BF98-F36AED86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Join tables link alerts to events and policy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A47142-6E77-41AD-A837-03C09909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662DC-80ED-4E6D-B5C3-051BD793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Transactions keep audit and checkpoint writes together.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A714E-3151-4E8D-89C5-D537CF72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118B6-763D-45A1-9702-EE0E3EB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Process key includes boot, PID and start time.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0115E-1AA6-4A12-88FA-7AE8984D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A686C-4FA1-4350-96E2-0F3256C7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Incomplete scans keep warnings.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79318-A384-4676-B8AF-EA386A6A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2FF5A-6E27-40B2-80CA-6E414059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USB decisions and review history remain stored.</a:t>
            </a:r>
          </a:p>
        </p:txBody>
      </p:sp>
    </p:spTree>
    <p:extLst>
      <p:ext uri="{BB962C8B-B14F-4D97-AF65-F5344CB8AC3E}">
        <p14:creationId xmlns:p14="http://schemas.microsoft.com/office/powerpoint/2010/main" val="1833731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6a938663846e3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FAAEE-4EA7-46BE-B090-AB393473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Testing &amp;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FA879-8E55-4953-A376-5BD1C08C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2F536-5F2E-4810-B946-45538199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B98C4-66D8-428B-8CD1-717A4E1C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12/18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733550"/>
          <a:ext xmlns:a="http://schemas.openxmlformats.org/drawingml/2006/main" cx="108013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190875"/>
                <a:gridCol w="4181475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Test area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Boundary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Current Windows suite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89 passed; 1 skipped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MySQL opt-in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Policy 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11/11 expected outcomes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Synthetic cases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Live Kali audit/inventory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Controlled checks observed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Recorded lab 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Oracle MySQL 8.4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Integration test passed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Separate Kali deployment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12535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e1fb0846640e1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BC445-F9BC-4A14-AA06-C7697682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Results &amp; Performance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C107D-EE44-477F-A3AB-A6AA14E1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CAE69-EE87-49B9-8CF7-ED7E22E8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72E48-B850-492C-9A43-5C101867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13/18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B6EDE-1BC3-4227-B66C-8D5C98C9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52575"/>
            <a:ext cx="10896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6E3F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035E0-020E-422B-BF1A-012957CA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1055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3E1FB-BD45-45B8-8708-756F882F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Saved evaluation: 500 synthetic events produced 100 alerts in 0.4806 seconds.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4D404-8BC9-4C89-BE6F-25B4AB86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57500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F3630-4086-4279-BE50-97A25111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57500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The measured workload used disk-backed SQLite in one transaction.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9D4B8-5BED-43A2-AC07-56893917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480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10E1F-1D20-44E0-8572-196FC9D8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48075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It excludes source collection, inventory polling and web rendering.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37505-A28E-4CD2-87A6-2E6104E6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425D9-B360-4E65-87F9-A13167C6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38650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Two legitimate scenarios also match policy and require human review.</a:t>
            </a:r>
          </a:p>
        </p:txBody>
      </p:sp>
    </p:spTree>
    <p:extLst>
      <p:ext uri="{BB962C8B-B14F-4D97-AF65-F5344CB8AC3E}">
        <p14:creationId xmlns:p14="http://schemas.microsoft.com/office/powerpoint/2010/main" val="11772295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7187de6aa4302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97DBF-224F-44D4-9144-A946D1FA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GitHub Repository &amp; Development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22A38-F9DA-467D-8D0B-204596A4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DAF2C-82BB-4038-938B-E96B03D0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2E7A0-BD18-45E8-A8D1-277B138F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14/18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3DB0D-5F38-4CA0-BC84-92D34ED3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Visible local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36BC6-568B-47DD-A7D6-4B3A7339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Evidence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FEC30-4C6E-4EAD-9FA8-6BE57107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06FFC-4F25-4DEE-8C2E-C4129F82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Local folder: C:\KernalGuard; branch main.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8C594-C1F5-4AC4-822B-B496E21F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EA9A1-8D5C-468F-99B3-16D48ECB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Two commits are visible in this checkout.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5CE70-8233-4589-BC95-E0BDAFF1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92DE4-5A96-455B-A038-2D1525CA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Current working-tree edits are uncommitted.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64D7B-F933-4B97-BFB7-6113413A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FAFCA-9BDF-4417-BF10-8BC5AECB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No public remote is configured here.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0A872-6545-482C-9D30-132878E4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FD4BC-5CDD-4CA6-B7D3-8E6A06EC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The allocation record does not prove authorship.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F4A21-97D8-465E-8928-2433AA11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4C96B-1A9C-4CC9-A132-A888A349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Individual commit counts are unavailable.</a:t>
            </a:r>
          </a:p>
        </p:txBody>
      </p:sp>
    </p:spTree>
    <p:extLst>
      <p:ext uri="{BB962C8B-B14F-4D97-AF65-F5344CB8AC3E}">
        <p14:creationId xmlns:p14="http://schemas.microsoft.com/office/powerpoint/2010/main" val="14538522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9c9a9e7774e1f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A0DF0-B620-448C-9261-217022F7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Individual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43A48-E7EB-4A07-AA7D-DB6A0B2A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405E3-664B-4A33-B582-1F07AB45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C88E8-DCF1-4ECC-B05C-970C4A48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15/18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733550"/>
          <a:ext xmlns:a="http://schemas.openxmlformats.org/drawingml/2006/main" cx="108013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143250"/>
                <a:gridCol w="470535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Member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Presentation area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Implementation area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Arshpreet Singh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Linux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audit and host collection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Mohd Ahmed Khan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Relational design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database and integration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Ankit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Rule 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five policies and cases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Mohd Shoaib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Administrator 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dashboard and reviews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3685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417a6bf78410e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42DD0-8729-4C24-984D-C24D43D9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Challenges, Limitations &amp; Lessons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969FE-8895-4CD6-9EBA-374B8627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1F380-13D4-4EB7-9B6B-1E6AF353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AAA84-A35D-4F30-BA0B-FE792D0A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16/18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AD152-2FBE-46AC-A94D-05E7DD2F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Engineering challenges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FE0F9-6967-4455-9C2F-A200A0B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Current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95636-6990-4EB6-B454-EABD9597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BDB71-012C-4164-84B8-528779CD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Boot/PID reuse needs stable identities.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769FF-ED0D-4DF2-97E9-AC8DDE14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CE46A-69AA-4FD4-9324-F53062F0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Audit replay needs source deduplication.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74920-D269-4F0B-9B0F-777646DA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712A4-3A78-4357-928D-BDC4F885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Partial process scans need warnings.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8B22F-65C2-4826-BD03-FCA9CA51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DC756-DD12-4AB4-BCFA-AA3B76D7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Physical USB remove/reconnect remains unverified.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37E63-450C-4A7C-9EAE-43161F55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17EA6-0D25-4CD0-9959-7B811036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Sampling can miss short device cycles.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82921-EAF8-481F-8A81-35875E49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78CC3-73C6-4E90-958C-2D23E3D0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A policy match does not prove malicious intent.</a:t>
            </a:r>
          </a:p>
        </p:txBody>
      </p:sp>
    </p:spTree>
    <p:extLst>
      <p:ext uri="{BB962C8B-B14F-4D97-AF65-F5344CB8AC3E}">
        <p14:creationId xmlns:p14="http://schemas.microsoft.com/office/powerpoint/2010/main" val="7006168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0fc6d2e9a4554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1DD89-D582-47C0-BA2A-7BFEFF7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Final Outcomes, Applications &amp;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57F8E-EDCA-47CF-8FB7-B14AF737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365EF-2606-4DE9-94E5-786521AA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68D58-0F4D-482C-A530-C3382FC4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17/18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FBE73-5679-40CE-8D90-805B5F10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Final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22E41-746E-4D26-8FD5-1B2DD03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Next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5B762-A029-4E15-9A18-E0199993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D372D-13BD-4608-97C2-F2850AC3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Working local monitoring prototype.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EEC77-6FE4-4C18-B0A8-291ECE4E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A05D1-3EA9-4854-9220-48A513A1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Five explainable policies and review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B8A3C-15A0-42BC-A222-AD5B5262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6C62D-B06A-4E14-89E3-20B38110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MariaDB and Oracle MySQL Kali deployments.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7BF13-FB8A-4C0B-979D-30F2B311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6AD90-03A5-4D48-8042-1497A71E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Physical USB enrollment/reconnect test.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F92B8-FE2E-4572-AE97-CC3674E9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F957A-887C-495A-9202-2B6F5943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Live USB-enumeration failure test.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9031C-46EE-4515-9AD6-B9836B26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ACC8CF-BC69-4FC7-9426-AC538C2B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Larger labelled field evaluation.</a:t>
            </a:r>
          </a:p>
        </p:txBody>
      </p:sp>
    </p:spTree>
    <p:extLst>
      <p:ext uri="{BB962C8B-B14F-4D97-AF65-F5344CB8AC3E}">
        <p14:creationId xmlns:p14="http://schemas.microsoft.com/office/powerpoint/2010/main" val="1186460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4a4a7318c4cf1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FBB36-1166-46E0-A962-52265E0C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References &amp; Project Resources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CA65C-934E-4950-8D0B-193EF9D4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541F3-0987-4A6B-80D5-E6A05C0F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57E32-2ECA-477D-9DC4-C357EE94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18/18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633C4-ED30-4391-ADCD-C95A9833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Technical 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771F6-65C4-4586-AA2D-169F6A0C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Project resources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16265-C997-437D-9F1F-BDB89B78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733D7-2477-4764-BB2A-211956BF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Red Hat Linux Audit documentation.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6AFB9-A479-4E06-9371-A1EAEDA4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8F7AC-EFC6-403D-8A60-D3285141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SQLAlchemy 2.0 transactions.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F9522-72C9-44B2-A7C0-EB907BB6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2D227-8549-44C9-9811-AF90EFA7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MySQL 8.4 foreign keys; Flask security.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30795-3755-4C97-9A48-A295B938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15894-4E82-4C2E-8F71-03B851F3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README.md and docs/ARCHITECTURE.md.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87A55-995D-41A9-AECC-DBA8F309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B33D0-CD99-4967-9885-E7A171C2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docs/EVALUATION.md and docs/ACCEPTANCE.md.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D50E5-31A7-4501-A4DC-27BFC990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A3E1F-3B1E-461F-9E1E-85BDA4DE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AI assistance recorded in project attribution notes.</a:t>
            </a:r>
          </a:p>
        </p:txBody>
      </p:sp>
    </p:spTree>
    <p:extLst>
      <p:ext uri="{BB962C8B-B14F-4D97-AF65-F5344CB8AC3E}">
        <p14:creationId xmlns:p14="http://schemas.microsoft.com/office/powerpoint/2010/main" val="843604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2026-10-02T15:54:42.3970000Z</dcterms:created>
  <dcterms:modified xsi:type="dcterms:W3CDTF">2026-10-02T15:54:42.3970000Z</dcterms:modified>
</coreProperties>
</file>