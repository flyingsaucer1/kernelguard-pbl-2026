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519d00fa40f465e" /><Relationship Type="http://schemas.openxmlformats.org/officeDocument/2006/relationships/extended-properties" Target="/docProps/app.xml" Id="Ra0d997404b314bf2" /><Relationship Type="http://schemas.openxmlformats.org/officeDocument/2006/relationships/officeDocument" Target="/ppt/presentation.xml" Id="Rd77fa4917a0c41d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bcba01f4609467a"/>
  </p:sldMasterIdLst>
  <p:notesMasterIdLst>
    <p:notesMasterId xmlns:r="http://schemas.openxmlformats.org/officeDocument/2006/relationships" r:id="Rb5dc0f1b4ec74e0c"/>
  </p:notesMasterIdLst>
  <p:sldIdLst>
    <p:sldId xmlns:r="http://schemas.openxmlformats.org/officeDocument/2006/relationships" id="256" r:id="R879a915c5d254e8e"/>
    <p:sldId xmlns:r="http://schemas.openxmlformats.org/officeDocument/2006/relationships" id="257" r:id="R507945a6fe6c41c7"/>
    <p:sldId xmlns:r="http://schemas.openxmlformats.org/officeDocument/2006/relationships" id="258" r:id="R02f34c2230a744f3"/>
    <p:sldId xmlns:r="http://schemas.openxmlformats.org/officeDocument/2006/relationships" id="259" r:id="R9d34e28a5dc1412e"/>
    <p:sldId xmlns:r="http://schemas.openxmlformats.org/officeDocument/2006/relationships" id="260" r:id="R6c6ad6b054f14c0e"/>
    <p:sldId xmlns:r="http://schemas.openxmlformats.org/officeDocument/2006/relationships" id="261" r:id="Rf863e73049ba451b"/>
    <p:sldId xmlns:r="http://schemas.openxmlformats.org/officeDocument/2006/relationships" id="262" r:id="R5523c210f9324d5b"/>
    <p:sldId xmlns:r="http://schemas.openxmlformats.org/officeDocument/2006/relationships" id="263" r:id="R5619725e00384291"/>
    <p:sldId xmlns:r="http://schemas.openxmlformats.org/officeDocument/2006/relationships" id="264" r:id="Rb402d50e611e4627"/>
    <p:sldId xmlns:r="http://schemas.openxmlformats.org/officeDocument/2006/relationships" id="265" r:id="Rb01b3c6a8a694b34"/>
    <p:sldId xmlns:r="http://schemas.openxmlformats.org/officeDocument/2006/relationships" id="266" r:id="R7f170daf0a484538"/>
    <p:sldId xmlns:r="http://schemas.openxmlformats.org/officeDocument/2006/relationships" id="267" r:id="R66389ba923654d9b"/>
    <p:sldId xmlns:r="http://schemas.openxmlformats.org/officeDocument/2006/relationships" id="268" r:id="R795a89454d274df7"/>
    <p:sldId xmlns:r="http://schemas.openxmlformats.org/officeDocument/2006/relationships" id="269" r:id="R8d9edd539f384205"/>
    <p:sldId xmlns:r="http://schemas.openxmlformats.org/officeDocument/2006/relationships" id="270" r:id="R6c0085902ede480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bcce9d8e5c14ea8" /><Relationship Type="http://schemas.openxmlformats.org/officeDocument/2006/relationships/slideMaster" Target="/ppt/slideMasters/slideMaster1.xml" Id="R4bcba01f4609467a" /><Relationship Type="http://schemas.openxmlformats.org/officeDocument/2006/relationships/notesMaster" Target="/ppt/notesMasters/notesMaster1.xml" Id="Rb5dc0f1b4ec74e0c" /><Relationship Type="http://schemas.openxmlformats.org/officeDocument/2006/relationships/presProps" Target="/ppt/presProps.xml" Id="R697e17894c4f49a9" /><Relationship Type="http://schemas.openxmlformats.org/officeDocument/2006/relationships/tableStyles" Target="/ppt/tableStyles.xml" Id="R3aa636055ff840c2" /><Relationship Type="http://schemas.openxmlformats.org/officeDocument/2006/relationships/slide" Target="/ppt/slides/slide1.xml" Id="R879a915c5d254e8e" /><Relationship Type="http://schemas.openxmlformats.org/officeDocument/2006/relationships/slide" Target="/ppt/slides/slide2.xml" Id="R507945a6fe6c41c7" /><Relationship Type="http://schemas.openxmlformats.org/officeDocument/2006/relationships/slide" Target="/ppt/slides/slide3.xml" Id="R02f34c2230a744f3" /><Relationship Type="http://schemas.openxmlformats.org/officeDocument/2006/relationships/slide" Target="/ppt/slides/slide4.xml" Id="R9d34e28a5dc1412e" /><Relationship Type="http://schemas.openxmlformats.org/officeDocument/2006/relationships/slide" Target="/ppt/slides/slide5.xml" Id="R6c6ad6b054f14c0e" /><Relationship Type="http://schemas.openxmlformats.org/officeDocument/2006/relationships/slide" Target="/ppt/slides/slide6.xml" Id="Rf863e73049ba451b" /><Relationship Type="http://schemas.openxmlformats.org/officeDocument/2006/relationships/slide" Target="/ppt/slides/slide7.xml" Id="R5523c210f9324d5b" /><Relationship Type="http://schemas.openxmlformats.org/officeDocument/2006/relationships/slide" Target="/ppt/slides/slide8.xml" Id="R5619725e00384291" /><Relationship Type="http://schemas.openxmlformats.org/officeDocument/2006/relationships/slide" Target="/ppt/slides/slide9.xml" Id="Rb402d50e611e4627" /><Relationship Type="http://schemas.openxmlformats.org/officeDocument/2006/relationships/slide" Target="/ppt/slides/slide10.xml" Id="Rb01b3c6a8a694b34" /><Relationship Type="http://schemas.openxmlformats.org/officeDocument/2006/relationships/slide" Target="/ppt/slides/slide11.xml" Id="R7f170daf0a484538" /><Relationship Type="http://schemas.openxmlformats.org/officeDocument/2006/relationships/slide" Target="/ppt/slides/slide12.xml" Id="R66389ba923654d9b" /><Relationship Type="http://schemas.openxmlformats.org/officeDocument/2006/relationships/slide" Target="/ppt/slides/slide13.xml" Id="R795a89454d274df7" /><Relationship Type="http://schemas.openxmlformats.org/officeDocument/2006/relationships/slide" Target="/ppt/slides/slide14.xml" Id="R8d9edd539f384205" /><Relationship Type="http://schemas.openxmlformats.org/officeDocument/2006/relationships/slide" Target="/ppt/slides/slide15.xml" Id="R6c0085902ede480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94123c50d7a4f1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b16fed1bfa64850" /><Relationship Type="http://schemas.openxmlformats.org/officeDocument/2006/relationships/notesMaster" Target="/ppt/notesMasters/notesMaster1.xml" Id="R0601b7700b2c4f2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f2431dba6664659" /><Relationship Type="http://schemas.openxmlformats.org/officeDocument/2006/relationships/notesMaster" Target="/ppt/notesMasters/notesMaster1.xml" Id="R69375b6806ce4a8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f54dfd076c047c2" /><Relationship Type="http://schemas.openxmlformats.org/officeDocument/2006/relationships/notesMaster" Target="/ppt/notesMasters/notesMaster1.xml" Id="Rd8ddb5f46cbb4e9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29cafe38cee42f7" /><Relationship Type="http://schemas.openxmlformats.org/officeDocument/2006/relationships/notesMaster" Target="/ppt/notesMasters/notesMaster1.xml" Id="R68b3ee886a95453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bc5de22c710404e" /><Relationship Type="http://schemas.openxmlformats.org/officeDocument/2006/relationships/notesMaster" Target="/ppt/notesMasters/notesMaster1.xml" Id="R32c9d5e8aa8b42a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78ad53693374fde" /><Relationship Type="http://schemas.openxmlformats.org/officeDocument/2006/relationships/notesMaster" Target="/ppt/notesMasters/notesMaster1.xml" Id="R39c9dc3243cd41f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36e44bc4a7f4779" /><Relationship Type="http://schemas.openxmlformats.org/officeDocument/2006/relationships/notesMaster" Target="/ppt/notesMasters/notesMaster1.xml" Id="R06163a33355b446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efafdee82144b95" /><Relationship Type="http://schemas.openxmlformats.org/officeDocument/2006/relationships/notesMaster" Target="/ppt/notesMasters/notesMaster1.xml" Id="R251ed4dcc3a9427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967f28823bb45cd" /><Relationship Type="http://schemas.openxmlformats.org/officeDocument/2006/relationships/notesMaster" Target="/ppt/notesMasters/notesMaster1.xml" Id="R6e8597d10e3942f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02fccd301e64b45" /><Relationship Type="http://schemas.openxmlformats.org/officeDocument/2006/relationships/notesMaster" Target="/ppt/notesMasters/notesMaster1.xml" Id="R623879d718a44e8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33174d17a864cf8" /><Relationship Type="http://schemas.openxmlformats.org/officeDocument/2006/relationships/notesMaster" Target="/ppt/notesMasters/notesMaster1.xml" Id="R0aa379b0d0b44b7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10b74cef0f24eb5" /><Relationship Type="http://schemas.openxmlformats.org/officeDocument/2006/relationships/notesMaster" Target="/ppt/notesMasters/notesMaster1.xml" Id="R47338ac48c67488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d60792a319c4dce" /><Relationship Type="http://schemas.openxmlformats.org/officeDocument/2006/relationships/notesMaster" Target="/ppt/notesMasters/notesMaster1.xml" Id="R229389bfc8df4a0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81bcb9212394f1f" /><Relationship Type="http://schemas.openxmlformats.org/officeDocument/2006/relationships/notesMaster" Target="/ppt/notesMasters/notesMaster1.xml" Id="Rb6725ff638044ab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b7183ff52da46cb" /><Relationship Type="http://schemas.openxmlformats.org/officeDocument/2006/relationships/notesMaster" Target="/ppt/notesMasters/notesMaster1.xml" Id="R30ec90320ca844b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Team and title: supplied Phase 1 report.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Team details and portraits: supplied Phase 1 report.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Phase 1 report; Phase 2 README.md. No separate mentor feedback record was supplied.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C:\KernalGuard-Phase2-PBL\README.md and kernelguard/core.py.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C:\KernalGuard-Phase2-PBL\README.md and docs/FILE_GUIDE.md.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C:\KernalGuard-Phase2-PBL\docs/FILE_GUIDE.md.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C:\KernalGuard-Phase2-PBL\requirements.txt, README.md.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C:\KernalGuard-Phase2-PBL\README.md. Technical context: https://docs.redhat.com/en/documentation/red_hat_enterprise_linux/7/html/security_guide/sec-understanding_audit_log_files ; https://dev.mysql.com/doc/refman/8.4/en/create-table-foreign-keys.html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C:\KernalGuard-Phase2-PBL\docs/FILE_GUIDE.md.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C:\KernalGuard-Phase2-PBL\README.md. Fixture counts are synthetic; live check recorded on Kali.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current local pytest run; Phase 2 README.md.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local git status and Phase 2 README.md.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Phase 2 docs/TEAM.md. Assignment map, not proof of exact file authorship.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Phase 2 README.md; C:\KernalGuard\docs/ARCHITECTURE.md.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References: https://docs.redhat.com/en/documentation/red_hat_enterprise_linux/7/html/security_guide/sec-understanding_audit_log_files ; https://docs.sqlalchemy.org/en/20/core/connections.html ; https://dev.mysql.com/doc/refman/8.4/en/create-table-foreign-keys.html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4ccb6da3778443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365a9512bfa486f" /><Relationship Type="http://schemas.openxmlformats.org/officeDocument/2006/relationships/slideLayout" Target="/ppt/slideLayouts/slideLayout1.xml" Id="R9cc68b3d7bdf45c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cc68b3d7bdf45c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21085364be463e" /><Relationship Type="http://schemas.openxmlformats.org/officeDocument/2006/relationships/image" Target="/ppt/media/image.png" Id="R3e68748027b345a4" /><Relationship Type="http://schemas.openxmlformats.org/officeDocument/2006/relationships/notesSlide" Target="/ppt/notesSlides/notesSlide1.xml" Id="R3c3c55b1ea0c4ec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8998b34b2e44e1" /><Relationship Type="http://schemas.openxmlformats.org/officeDocument/2006/relationships/image" Target="/ppt/media/image2.png" Id="R37f0682e615a4440" /><Relationship Type="http://schemas.openxmlformats.org/officeDocument/2006/relationships/image" Target="/ppt/media/image.jpeg" Id="Rfc98f777643f4d36" /><Relationship Type="http://schemas.openxmlformats.org/officeDocument/2006/relationships/image" Target="/ppt/media/image2.jpeg" Id="R3a427dfc062240bb" /><Relationship Type="http://schemas.openxmlformats.org/officeDocument/2006/relationships/image" Target="/ppt/media/image3.jpeg" Id="Re4db6feb801d466b" /><Relationship Type="http://schemas.openxmlformats.org/officeDocument/2006/relationships/image" Target="/ppt/media/image4.jpeg" Id="R0f0c84e1d6154f18" /><Relationship Type="http://schemas.openxmlformats.org/officeDocument/2006/relationships/notesSlide" Target="/ppt/notesSlides/notesSlide2.xml" Id="Ra12e98ff4d51449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8d93c39d334afb" /><Relationship Type="http://schemas.openxmlformats.org/officeDocument/2006/relationships/image" Target="/ppt/media/image3.png" Id="R9f2209520e684413" /><Relationship Type="http://schemas.openxmlformats.org/officeDocument/2006/relationships/notesSlide" Target="/ppt/notesSlides/notesSlide3.xml" Id="R66aece4e60f344b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67186723914ea7" /><Relationship Type="http://schemas.openxmlformats.org/officeDocument/2006/relationships/image" Target="/ppt/media/image4.png" Id="R96ff315d0c174186" /><Relationship Type="http://schemas.openxmlformats.org/officeDocument/2006/relationships/notesSlide" Target="/ppt/notesSlides/notesSlide4.xml" Id="Ra59ece437719420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628abe140f4f4c" /><Relationship Type="http://schemas.openxmlformats.org/officeDocument/2006/relationships/image" Target="/ppt/media/image5.png" Id="R98e44630a2e6491c" /><Relationship Type="http://schemas.openxmlformats.org/officeDocument/2006/relationships/notesSlide" Target="/ppt/notesSlides/notesSlide5.xml" Id="Rfcba0b949b90497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b1e6f7f09841ab" /><Relationship Type="http://schemas.openxmlformats.org/officeDocument/2006/relationships/image" Target="/ppt/media/image6.png" Id="R7eb5791b666a42b5" /><Relationship Type="http://schemas.openxmlformats.org/officeDocument/2006/relationships/notesSlide" Target="/ppt/notesSlides/notesSlide6.xml" Id="R7a3b6fde195e451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244853eaa14df9" /><Relationship Type="http://schemas.openxmlformats.org/officeDocument/2006/relationships/image" Target="/ppt/media/image7.png" Id="Rc7fd9dce9eb34756" /><Relationship Type="http://schemas.openxmlformats.org/officeDocument/2006/relationships/notesSlide" Target="/ppt/notesSlides/notesSlide7.xml" Id="Ra2fb1a6f467e47c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e35ca465894df6" /><Relationship Type="http://schemas.openxmlformats.org/officeDocument/2006/relationships/image" Target="/ppt/media/image8.png" Id="Rafa7be505af345bc" /><Relationship Type="http://schemas.openxmlformats.org/officeDocument/2006/relationships/notesSlide" Target="/ppt/notesSlides/notesSlide8.xml" Id="Rb8591f7a376f429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1cf230d47d45b6" /><Relationship Type="http://schemas.openxmlformats.org/officeDocument/2006/relationships/image" Target="/ppt/media/image9.png" Id="R491150d22de5438d" /><Relationship Type="http://schemas.openxmlformats.org/officeDocument/2006/relationships/notesSlide" Target="/ppt/notesSlides/notesSlide9.xml" Id="Ra52b057d59124ab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d9cd60c5ec4291" /><Relationship Type="http://schemas.openxmlformats.org/officeDocument/2006/relationships/image" Target="/ppt/media/image10.png" Id="R1a3ca4b768ab41c7" /><Relationship Type="http://schemas.openxmlformats.org/officeDocument/2006/relationships/notesSlide" Target="/ppt/notesSlides/notesSlide10.xml" Id="R4285fc8f80a8463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ddef954b1d424e" /><Relationship Type="http://schemas.openxmlformats.org/officeDocument/2006/relationships/image" Target="/ppt/media/image11.png" Id="Rb54786d440104c72" /><Relationship Type="http://schemas.openxmlformats.org/officeDocument/2006/relationships/notesSlide" Target="/ppt/notesSlides/notesSlide11.xml" Id="R3603236106d54fc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d4b4f3f50044c2" /><Relationship Type="http://schemas.openxmlformats.org/officeDocument/2006/relationships/image" Target="/ppt/media/image12.png" Id="Rebdd15b85def4755" /><Relationship Type="http://schemas.openxmlformats.org/officeDocument/2006/relationships/notesSlide" Target="/ppt/notesSlides/notesSlide12.xml" Id="R7a3e943d0b604f3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05b43cdbe84618" /><Relationship Type="http://schemas.openxmlformats.org/officeDocument/2006/relationships/image" Target="/ppt/media/image13.png" Id="R774775c3ba1a4473" /><Relationship Type="http://schemas.openxmlformats.org/officeDocument/2006/relationships/notesSlide" Target="/ppt/notesSlides/notesSlide13.xml" Id="R8bf5d2b7d476405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d54815bbbb44c7" /><Relationship Type="http://schemas.openxmlformats.org/officeDocument/2006/relationships/image" Target="/ppt/media/image14.png" Id="Rf9b0a6e59a5243a9" /><Relationship Type="http://schemas.openxmlformats.org/officeDocument/2006/relationships/notesSlide" Target="/ppt/notesSlides/notesSlide14.xml" Id="R1f00b11c4a744c7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5bcae6dfef44d2" /><Relationship Type="http://schemas.openxmlformats.org/officeDocument/2006/relationships/image" Target="/ppt/media/image15.png" Id="R73ca588e85044fd6" /><Relationship Type="http://schemas.openxmlformats.org/officeDocument/2006/relationships/notesSlide" Target="/ppt/notesSlides/notesSlide15.xml" Id="R6422d6c82af4464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68748027b345a4"/>
          <a:stretch xmlns:a="http://schemas.openxmlformats.org/drawingml/2006/main"/>
        </p:blipFill>
        <p:spPr>
          <a:xfrm xmlns:a="http://schemas.openxmlformats.org/drawingml/2006/main">
            <a:off x="10648950" y="285750"/>
            <a:ext cx="1047750" cy="10477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1471F2-FE36-40B4-AABA-35A392B1A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57350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Project-Based Learning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04F564-BD15-47C4-9172-C5F8A0CFC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38375"/>
            <a:ext cx="9906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825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3825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Phase-II Evaluation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AB406C-2CC1-46E6-B217-D39E3D00C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67050"/>
            <a:ext cx="10496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43769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85614A-699A-4CD2-AA7F-8FD5A78D0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24225"/>
            <a:ext cx="104775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62434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62434"/>
                </a:solidFill>
                <a:latin typeface="Arial"/>
                <a:ea typeface="Arial"/>
                <a:cs typeface="Arial"/>
              </a:rPr>
              <a:t>OS User Activity Monitoring &amp; Insider Threat Detection System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D10B77-3A78-4C14-A158-CD859464B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95800"/>
            <a:ext cx="1047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3769"/>
                </a:solidFill>
                <a:latin typeface="Arial"/>
                <a:ea typeface="Arial"/>
                <a:cs typeface="Arial"/>
              </a:rPr>
              <a:t>KernelGuard  |  Team ID: OSDBMS-V-2026-T298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F6A9D8-2278-43DE-9AC9-5BFD0F2C9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9590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A5A5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A5A5A"/>
                </a:solidFill>
                <a:latin typeface="Arial"/>
                <a:ea typeface="Arial"/>
                <a:cs typeface="Arial"/>
              </a:rPr>
              <a:t>OS (TCS 502) and DBMS (TCS 503)  |  Academic Session 2026–27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4D6CA4-CF8E-4914-9982-7287E45F4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72150"/>
            <a:ext cx="10477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A5A5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A5A5A"/>
                </a:solidFill>
                <a:latin typeface="Arial"/>
                <a:ea typeface="Arial"/>
                <a:cs typeface="Arial"/>
              </a:rPr>
              <a:t>Graphic Era (Deemed to be University), Dehradun</a:t>
            </a:r>
          </a:p>
        </p:txBody>
      </p:sp>
    </p:spTree>
    <p:extLst>
      <p:ext uri="{BB962C8B-B14F-4D97-AF65-F5344CB8AC3E}">
        <p14:creationId xmlns:p14="http://schemas.microsoft.com/office/powerpoint/2010/main" val="119072781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f0682e615a4440"/>
          <a:stretch xmlns:a="http://schemas.openxmlformats.org/drawingml/2006/main"/>
        </p:blipFill>
        <p:spPr>
          <a:xfrm xmlns:a="http://schemas.openxmlformats.org/drawingml/2006/main">
            <a:off x="11068050" y="161925"/>
            <a:ext cx="714375" cy="714375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F1C8CB-AD4F-4CFA-9E02-05A02CA2E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742950"/>
            <a:ext cx="10477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Team &amp; Mentor Details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A3BDAE-530A-4D38-8C00-C579B9CBA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13144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43769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3A67DB-BF90-48FF-954F-A0157FDF5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77000"/>
            <a:ext cx="981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5A5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5A5A"/>
                </a:solidFill>
                <a:latin typeface="Arial"/>
                <a:ea typeface="Arial"/>
                <a:cs typeface="Arial"/>
              </a:rPr>
              <a:t>Department of Computer Science &amp; Engineering  |  Graphic Era (Deemed to be University)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02FD94-2A06-494D-BA31-41788F671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77000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5A5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5A5A"/>
                </a:solidFill>
                <a:latin typeface="Arial"/>
                <a:ea typeface="Arial"/>
                <a:cs typeface="Arial"/>
              </a:rPr>
              <a:t>2/15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68D8AF-78B3-48B0-9826-D1865B2FE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571625"/>
            <a:ext cx="525780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EEF4FB"/>
          </a:solidFill>
          <a:ln xmlns:a="http://schemas.openxmlformats.org/drawingml/2006/main" w="9525">
            <a:solidFill>
              <a:srgbClr val="D6E3F2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454B71-C922-449A-9095-634A85DB6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685925"/>
            <a:ext cx="4914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Team Information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EBE989-F515-46AE-8109-A292AB7D2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057400"/>
            <a:ext cx="4914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6243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62434"/>
                </a:solidFill>
                <a:latin typeface="Arial"/>
                <a:ea typeface="Arial"/>
                <a:cs typeface="Arial"/>
              </a:rPr>
              <a:t>Team ID: OSDBMS-V-2026-T298</a:t>
            </a:r>
          </a:p>
          <a:p xmlns:a="http://schemas.openxmlformats.org/drawingml/2006/main">
            <a:pPr algn="l">
              <a:defRPr sz="1575" b="0">
                <a:solidFill>
                  <a:srgbClr val="16243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62434"/>
                </a:solidFill>
                <a:latin typeface="Arial"/>
                <a:ea typeface="Arial"/>
                <a:cs typeface="Arial"/>
              </a:rPr>
              <a:t>Domain: OS activity monitoring and DBMS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96AEBC-0958-472C-8C64-74B634D81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571625"/>
            <a:ext cx="53911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EEF4FB"/>
          </a:solidFill>
          <a:ln xmlns:a="http://schemas.openxmlformats.org/drawingml/2006/main" w="9525">
            <a:solidFill>
              <a:srgbClr val="D6E3F2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96064B-7D79-49CE-8D7D-8EEE10112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685925"/>
            <a:ext cx="504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Mentor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94B12A-C9CE-4018-A812-97F0D8A97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57400"/>
            <a:ext cx="5048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6243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62434"/>
                </a:solidFill>
                <a:latin typeface="Arial"/>
                <a:ea typeface="Arial"/>
                <a:cs typeface="Arial"/>
              </a:rPr>
              <a:t>(Prof.)Dr.Mohammad Wazid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84E886-CCF5-4F84-B720-17EC78249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876550"/>
            <a:ext cx="9525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Team Members</a:t>
            </a:r>
          </a:p>
        </p:txBody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98f777643f4d36"/>
          <a:stretch xmlns:a="http://schemas.openxmlformats.org/drawingml/2006/main"/>
        </p:blipFill>
        <p:spPr>
          <a:xfrm xmlns:a="http://schemas.openxmlformats.org/drawingml/2006/main">
            <a:off x="850091" y="3343275"/>
            <a:ext cx="1443069" cy="180975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1B750B-B4AC-47B8-831D-E5D5776C6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52768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Arshpreet Singh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F0DB54-D143-425C-9F19-479CCC84F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55816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A5A5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A5A5A"/>
                </a:solidFill>
                <a:latin typeface="Arial"/>
                <a:ea typeface="Arial"/>
                <a:cs typeface="Arial"/>
              </a:rPr>
              <a:t>24021835</a:t>
            </a:r>
          </a:p>
        </p:txBody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427dfc062240bb"/>
          <a:stretch xmlns:a="http://schemas.openxmlformats.org/drawingml/2006/main"/>
        </p:blipFill>
        <p:spPr>
          <a:xfrm xmlns:a="http://schemas.openxmlformats.org/drawingml/2006/main">
            <a:off x="3581400" y="3457575"/>
            <a:ext cx="1581150" cy="1581150"/>
          </a:xfrm>
          <a:prstGeom xmlns:a="http://schemas.openxmlformats.org/drawingml/2006/main" prst="rect">
            <a:avLst/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DF365D-AF8C-43C4-8FC9-6CCE82184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52768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Mohd Ahmed Khan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78A920-4B3B-4728-9C82-A54841E42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55816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A5A5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A5A5A"/>
                </a:solidFill>
                <a:latin typeface="Arial"/>
                <a:ea typeface="Arial"/>
                <a:cs typeface="Arial"/>
              </a:rPr>
              <a:t>24021365</a:t>
            </a:r>
          </a:p>
        </p:txBody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db6feb801d466b"/>
          <a:stretch xmlns:a="http://schemas.openxmlformats.org/drawingml/2006/main"/>
        </p:blipFill>
        <p:spPr>
          <a:xfrm xmlns:a="http://schemas.openxmlformats.org/drawingml/2006/main">
            <a:off x="6456309" y="3343275"/>
            <a:ext cx="1432031" cy="1809750"/>
          </a:xfrm>
          <a:prstGeom xmlns:a="http://schemas.openxmlformats.org/drawingml/2006/main" prst="rect">
            <a:avLst/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D4E0211-B5CC-42DB-97D9-A6333AD67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52768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Ankit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041C34B-B011-413B-AB0F-F4FBBA9E3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55816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A5A5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A5A5A"/>
                </a:solidFill>
                <a:latin typeface="Arial"/>
                <a:ea typeface="Arial"/>
                <a:cs typeface="Arial"/>
              </a:rPr>
              <a:t>240212134</a:t>
            </a:r>
          </a:p>
        </p:txBody>
      </p:sp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0c84e1d6154f18"/>
          <a:stretch xmlns:a="http://schemas.openxmlformats.org/drawingml/2006/main"/>
        </p:blipFill>
        <p:spPr>
          <a:xfrm xmlns:a="http://schemas.openxmlformats.org/drawingml/2006/main">
            <a:off x="9246506" y="3343275"/>
            <a:ext cx="1452339" cy="1809750"/>
          </a:xfrm>
          <a:prstGeom xmlns:a="http://schemas.openxmlformats.org/drawingml/2006/main" prst="rect">
            <a:avLst/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143F5F1-4663-4C27-BFAC-F8C940734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52768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Mohd Shoaib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C3C7039-6EAC-483E-A476-DE79C81A7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55816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A5A5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A5A5A"/>
                </a:solidFill>
                <a:latin typeface="Arial"/>
                <a:ea typeface="Arial"/>
                <a:cs typeface="Arial"/>
              </a:rPr>
              <a:t>240211124</a:t>
            </a:r>
          </a:p>
        </p:txBody>
      </p:sp>
    </p:spTree>
    <p:extLst>
      <p:ext uri="{BB962C8B-B14F-4D97-AF65-F5344CB8AC3E}">
        <p14:creationId xmlns:p14="http://schemas.microsoft.com/office/powerpoint/2010/main" val="161569050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2209520e684413"/>
          <a:stretch xmlns:a="http://schemas.openxmlformats.org/drawingml/2006/main"/>
        </p:blipFill>
        <p:spPr>
          <a:xfrm xmlns:a="http://schemas.openxmlformats.org/drawingml/2006/main">
            <a:off x="11068050" y="161925"/>
            <a:ext cx="714375" cy="714375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1903F4-2450-4FB7-81BB-0EB62F95D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742950"/>
            <a:ext cx="10477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Phase-I Recap &amp; Feedback Incorporated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BCA57D-EBC4-48E3-A54A-2624B1F19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13144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43769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211F42-3410-4BB7-B625-1BE266E98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77000"/>
            <a:ext cx="981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5A5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5A5A"/>
                </a:solidFill>
                <a:latin typeface="Arial"/>
                <a:ea typeface="Arial"/>
                <a:cs typeface="Arial"/>
              </a:rPr>
              <a:t>Department of Computer Science &amp; Engineering  |  Graphic Era (Deemed to be University)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99BF53-1F1D-4F15-9CE1-48CEF65EA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77000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5A5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5A5A"/>
                </a:solidFill>
                <a:latin typeface="Arial"/>
                <a:ea typeface="Arial"/>
                <a:cs typeface="Arial"/>
              </a:rPr>
              <a:t>3/15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9FB3D5-87C4-4619-B05C-4EFDB4449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676400"/>
            <a:ext cx="485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Phase I proposal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EB0561-0EBA-4DA9-9848-AB4102C65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1676400"/>
            <a:ext cx="485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Recorded Phase II decisions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553024-CF9F-4719-9961-AB6708D79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200275"/>
            <a:ext cx="2286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FC67F8-1FE1-4B4A-9FC3-00BB2B400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2200275"/>
            <a:ext cx="44005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6243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62434"/>
                </a:solidFill>
                <a:latin typeface="Arial"/>
                <a:ea typeface="Arial"/>
                <a:cs typeface="Arial"/>
              </a:rPr>
              <a:t>A local Linux monitor for file, login, process and USB activity.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F7A67B-6F5A-4676-B747-AA36E00FA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152775"/>
            <a:ext cx="2286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55BF7F-A31B-4A22-9090-2D39F8AB3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3152775"/>
            <a:ext cx="44005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6243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62434"/>
                </a:solidFill>
                <a:latin typeface="Arial"/>
                <a:ea typeface="Arial"/>
                <a:cs typeface="Arial"/>
              </a:rPr>
              <a:t>Relational records and explainable warnings were the proposed result.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4381EE-25AD-4CAC-BDBD-391EBA480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200275"/>
            <a:ext cx="2286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834BB6-D6A5-466C-A6D5-702744317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200275"/>
            <a:ext cx="44005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6243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62434"/>
                </a:solidFill>
                <a:latin typeface="Arial"/>
                <a:ea typeface="Arial"/>
                <a:cs typeface="Arial"/>
              </a:rPr>
              <a:t>The implementation focuses first on Linux Audit and MySQL.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492EEE-7E76-4421-8E94-EB159351A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152775"/>
            <a:ext cx="2286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B96CBF-FA1A-4900-B39C-D0C5D8D7C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152775"/>
            <a:ext cx="44005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6243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62434"/>
                </a:solidFill>
                <a:latin typeface="Arial"/>
                <a:ea typeface="Arial"/>
                <a:cs typeface="Arial"/>
              </a:rPr>
              <a:t>Two rules and linked evidence make the prototype testable.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3287A0-4CDE-45BC-A9EE-C706BC9EE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105275"/>
            <a:ext cx="2286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4F7B75-B1F3-4081-AA01-B8490294B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105275"/>
            <a:ext cx="44005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6243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62434"/>
                </a:solidFill>
                <a:latin typeface="Arial"/>
                <a:ea typeface="Arial"/>
                <a:cs typeface="Arial"/>
              </a:rPr>
              <a:t>No formal mentor feedback text was supplied.</a:t>
            </a:r>
          </a:p>
        </p:txBody>
      </p:sp>
    </p:spTree>
    <p:extLst>
      <p:ext uri="{BB962C8B-B14F-4D97-AF65-F5344CB8AC3E}">
        <p14:creationId xmlns:p14="http://schemas.microsoft.com/office/powerpoint/2010/main" val="6277997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ff315d0c174186"/>
          <a:stretch xmlns:a="http://schemas.openxmlformats.org/drawingml/2006/main"/>
        </p:blipFill>
        <p:spPr>
          <a:xfrm xmlns:a="http://schemas.openxmlformats.org/drawingml/2006/main">
            <a:off x="11068050" y="161925"/>
            <a:ext cx="714375" cy="714375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FAA9AD-91EE-4A50-A977-6E8167C12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742950"/>
            <a:ext cx="10477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Problem Statement &amp; Finalized Objectives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6A5BD3-D529-4C3D-BB2D-B2F355872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13144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43769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D1E77E-F431-40B0-95A0-5B68FC0EA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77000"/>
            <a:ext cx="981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5A5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5A5A"/>
                </a:solidFill>
                <a:latin typeface="Arial"/>
                <a:ea typeface="Arial"/>
                <a:cs typeface="Arial"/>
              </a:rPr>
              <a:t>Department of Computer Science &amp; Engineering  |  Graphic Era (Deemed to be University)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A3E4C5-3CCE-4308-85C7-77DB5CD11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77000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5A5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5A5A"/>
                </a:solidFill>
                <a:latin typeface="Arial"/>
                <a:ea typeface="Arial"/>
                <a:cs typeface="Arial"/>
              </a:rPr>
              <a:t>4/15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1B8D21-EDAD-411D-B4A3-78823A9FE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52575"/>
            <a:ext cx="108966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EEF4FB"/>
          </a:solidFill>
          <a:ln xmlns:a="http://schemas.openxmlformats.org/drawingml/2006/main" w="9525">
            <a:solidFill>
              <a:srgbClr val="D6E3F2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7BE352-2947-4E12-9BB8-61B05D86D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66875"/>
            <a:ext cx="10553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F50CCB-F7D8-4CE9-AF60-BC70E6B9A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38350"/>
            <a:ext cx="10553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6243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62434"/>
                </a:solidFill>
                <a:latin typeface="Arial"/>
                <a:ea typeface="Arial"/>
                <a:cs typeface="Arial"/>
              </a:rPr>
              <a:t>Audit events need a clear route from raw record to stored evidence and a reviewable warning.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2E414D-6E32-4F1D-A1B9-C3D414D37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857500"/>
            <a:ext cx="2286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3C00B6-6768-4E30-B802-BB93194F6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2857500"/>
            <a:ext cx="10353675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6243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62434"/>
                </a:solidFill>
                <a:latin typeface="Arial"/>
                <a:ea typeface="Arial"/>
                <a:cs typeface="Arial"/>
              </a:rPr>
              <a:t>Group related Linux Audit lines into one normalized event.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F4CC75-FED5-4AE3-9FD5-19A8540DE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648075"/>
            <a:ext cx="2286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AEF9F5-482E-4D45-ACC4-7D4561A72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3648075"/>
            <a:ext cx="10353675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6243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62434"/>
                </a:solidFill>
                <a:latin typeface="Arial"/>
                <a:ea typeface="Arial"/>
                <a:cs typeface="Arial"/>
              </a:rPr>
              <a:t>Store event and policy relationships in MySQL with replay protection.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D93FAC-E3A6-4421-B362-96C0FBD8D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4438650"/>
            <a:ext cx="2286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E7C733-5175-4FD6-9D86-E977EB090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4438650"/>
            <a:ext cx="10353675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6243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62434"/>
                </a:solidFill>
                <a:latin typeface="Arial"/>
                <a:ea typeface="Arial"/>
                <a:cs typeface="Arial"/>
              </a:rPr>
              <a:t>Detect failed-login bursts and after-hours protected reads.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BD09FC-A823-4FFB-82BD-EDC3C9BDC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5229225"/>
            <a:ext cx="2286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716BF5-2840-4A41-8BC4-9747B5C73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5229225"/>
            <a:ext cx="10353675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6243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62434"/>
                </a:solidFill>
                <a:latin typeface="Arial"/>
                <a:ea typeface="Arial"/>
                <a:cs typeface="Arial"/>
              </a:rPr>
              <a:t>Display the evidence behind each alert in a local dashboard.</a:t>
            </a:r>
          </a:p>
        </p:txBody>
      </p:sp>
    </p:spTree>
    <p:extLst>
      <p:ext uri="{BB962C8B-B14F-4D97-AF65-F5344CB8AC3E}">
        <p14:creationId xmlns:p14="http://schemas.microsoft.com/office/powerpoint/2010/main" val="198888119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e44630a2e6491c"/>
          <a:stretch xmlns:a="http://schemas.openxmlformats.org/drawingml/2006/main"/>
        </p:blipFill>
        <p:spPr>
          <a:xfrm xmlns:a="http://schemas.openxmlformats.org/drawingml/2006/main">
            <a:off x="11068050" y="161925"/>
            <a:ext cx="714375" cy="714375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643828-030B-4D28-9690-5C64CA35C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742950"/>
            <a:ext cx="10477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Updated System Architecture / Workflow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16030E-D42F-48D0-80F8-AFB6BB865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13144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43769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95B461-231D-4E6E-AFF8-34D374CF8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77000"/>
            <a:ext cx="981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5A5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5A5A"/>
                </a:solidFill>
                <a:latin typeface="Arial"/>
                <a:ea typeface="Arial"/>
                <a:cs typeface="Arial"/>
              </a:rPr>
              <a:t>Department of Computer Science &amp; Engineering  |  Graphic Era (Deemed to be University)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987384-E5F0-4052-8037-02808B1CB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77000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5A5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5A5A"/>
                </a:solidFill>
                <a:latin typeface="Arial"/>
                <a:ea typeface="Arial"/>
                <a:cs typeface="Arial"/>
              </a:rPr>
              <a:t>5/15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E2F2EE-0941-4918-84A9-B101F027A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638425"/>
            <a:ext cx="20193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EF4FB"/>
          </a:solidFill>
          <a:ln xmlns:a="http://schemas.openxmlformats.org/drawingml/2006/main" w="9525">
            <a:solidFill>
              <a:srgbClr val="BED0E6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F9FEF6-C4F5-40E4-8E69-75E3CD1F1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00350"/>
            <a:ext cx="1809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Linux Audit</a:t>
            </a:r>
          </a:p>
          <a:p xmlns:a="http://schemas.openxmlformats.org/drawingml/2006/main">
            <a:pPr algn="ctr">
              <a:defRPr sz="1500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ausearch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3B3250-A77E-47A2-841A-BAF141D09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057525"/>
            <a:ext cx="190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80342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F74901-1A9E-4FD5-AE77-80198473A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638425"/>
            <a:ext cx="20193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EF4FB"/>
          </a:solidFill>
          <a:ln xmlns:a="http://schemas.openxmlformats.org/drawingml/2006/main" w="9525">
            <a:solidFill>
              <a:srgbClr val="BED0E6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6409FB-9412-4995-B079-B1F7EFC5E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2800350"/>
            <a:ext cx="1809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Parser</a:t>
            </a:r>
          </a:p>
          <a:p xmlns:a="http://schemas.openxmlformats.org/drawingml/2006/main">
            <a:pPr algn="ctr">
              <a:defRPr sz="1500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normalized events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E34B44-330F-46C1-A137-DD4E67F9E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3057525"/>
            <a:ext cx="190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80342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176C86-3AC4-4250-9897-365A6B162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2638425"/>
            <a:ext cx="20193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EF4FB"/>
          </a:solidFill>
          <a:ln xmlns:a="http://schemas.openxmlformats.org/drawingml/2006/main" w="9525">
            <a:solidFill>
              <a:srgbClr val="BED0E6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D7E5F4-0CCB-4E25-B02B-6D490C7CA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800350"/>
            <a:ext cx="1809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MySQL</a:t>
            </a:r>
          </a:p>
          <a:p xmlns:a="http://schemas.openxmlformats.org/drawingml/2006/main">
            <a:pPr algn="ctr">
              <a:defRPr sz="1500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eight tables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049756-16EC-48A0-A56E-9BCB142B9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057525"/>
            <a:ext cx="190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80342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ACBA0B-D5F2-4C2E-AF22-1B0F0BF2E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638425"/>
            <a:ext cx="20193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EF4FB"/>
          </a:solidFill>
          <a:ln xmlns:a="http://schemas.openxmlformats.org/drawingml/2006/main" w="9525">
            <a:solidFill>
              <a:srgbClr val="BED0E6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BBBAA0-4145-4628-9413-E286BA2FB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2800350"/>
            <a:ext cx="1809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Two rules</a:t>
            </a:r>
          </a:p>
          <a:p xmlns:a="http://schemas.openxmlformats.org/drawingml/2006/main">
            <a:pPr algn="ctr">
              <a:defRPr sz="1500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linked alerts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5C3FCF-53DE-45B1-80D6-3AAA5C035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057525"/>
            <a:ext cx="190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80342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EF1CB2-C19D-41AC-AA62-05D884237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2638425"/>
            <a:ext cx="20193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EF4FB"/>
          </a:solidFill>
          <a:ln xmlns:a="http://schemas.openxmlformats.org/drawingml/2006/main" w="9525">
            <a:solidFill>
              <a:srgbClr val="BED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857CBA-3488-4C88-88B0-45D27B36F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800350"/>
            <a:ext cx="1809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Dashboard</a:t>
            </a:r>
          </a:p>
          <a:p xmlns:a="http://schemas.openxmlformats.org/drawingml/2006/main">
            <a:pPr algn="ctr">
              <a:defRPr sz="1500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evidence view</a:t>
            </a:r>
          </a:p>
        </p:txBody>
      </p:sp>
    </p:spTree>
    <p:extLst>
      <p:ext uri="{BB962C8B-B14F-4D97-AF65-F5344CB8AC3E}">
        <p14:creationId xmlns:p14="http://schemas.microsoft.com/office/powerpoint/2010/main" val="191437978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b5791b666a42b5"/>
          <a:stretch xmlns:a="http://schemas.openxmlformats.org/drawingml/2006/main"/>
        </p:blipFill>
        <p:spPr>
          <a:xfrm xmlns:a="http://schemas.openxmlformats.org/drawingml/2006/main">
            <a:off x="11068050" y="161925"/>
            <a:ext cx="714375" cy="714375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B3EABE-0F8E-41BD-B510-8AE70F6BC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742950"/>
            <a:ext cx="10477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Module Design &amp; Functional Requirements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CE6FAE-7C2B-4A17-AE17-7AD1C91E0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13144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43769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C70B42-6AAD-49E5-994C-9C1B73C5C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77000"/>
            <a:ext cx="981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5A5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5A5A"/>
                </a:solidFill>
                <a:latin typeface="Arial"/>
                <a:ea typeface="Arial"/>
                <a:cs typeface="Arial"/>
              </a:rPr>
              <a:t>Department of Computer Science &amp; Engineering  |  Graphic Era (Deemed to be University)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FD343F-883A-48FF-8F15-0318C7E50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77000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5A5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5A5A"/>
                </a:solidFill>
                <a:latin typeface="Arial"/>
                <a:ea typeface="Arial"/>
                <a:cs typeface="Arial"/>
              </a:rPr>
              <a:t>6/15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453E60-D3D9-4F45-99CC-960155335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676400"/>
            <a:ext cx="485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Core modules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2D1E3B-6F7C-42BA-83B1-1437AF061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1676400"/>
            <a:ext cx="485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Functional requirements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9E99C9-700C-4AD2-AC56-F5D8D0F6D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200275"/>
            <a:ext cx="2286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48FC27-574D-4346-B462-2F895A21E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2200275"/>
            <a:ext cx="44005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6243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62434"/>
                </a:solidFill>
                <a:latin typeface="Arial"/>
                <a:ea typeface="Arial"/>
                <a:cs typeface="Arial"/>
              </a:rPr>
              <a:t>Parser groups raw audit records and selects fields.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5B1CD8-EBC7-4376-A203-316B70821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152775"/>
            <a:ext cx="2286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F5B36F-726B-4F8B-9CD3-CEB9BE022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3152775"/>
            <a:ext cx="44005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6243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62434"/>
                </a:solidFill>
                <a:latin typeface="Arial"/>
                <a:ea typeface="Arial"/>
                <a:cs typeface="Arial"/>
              </a:rPr>
              <a:t>Collector uses a writer lock and transactional checkpoint.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E57B1C-FAAD-4113-BE34-DEED1905C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4105275"/>
            <a:ext cx="2286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C61242-9A31-4382-9CB7-6D0C7F732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4105275"/>
            <a:ext cx="44005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6243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62434"/>
                </a:solidFill>
                <a:latin typeface="Arial"/>
                <a:ea typeface="Arial"/>
                <a:cs typeface="Arial"/>
              </a:rPr>
              <a:t>Schema stores events, details, alerts and policy history.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00D9DB-D9AD-4B7A-8982-139AC3C31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200275"/>
            <a:ext cx="2286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681C26-9BC5-4770-BD63-6C12B4355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200275"/>
            <a:ext cx="44005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6243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62434"/>
                </a:solidFill>
                <a:latin typeface="Arial"/>
                <a:ea typeface="Arial"/>
                <a:cs typeface="Arial"/>
              </a:rPr>
              <a:t>Reject duplicate source IDs.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084640-878B-4F46-89E1-0D479FC07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152775"/>
            <a:ext cx="2286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1720B9-1FE5-452B-AAE7-CB662B709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152775"/>
            <a:ext cx="44005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6243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62434"/>
                </a:solidFill>
                <a:latin typeface="Arial"/>
                <a:ea typeface="Arial"/>
                <a:cs typeface="Arial"/>
              </a:rPr>
              <a:t>Separate demo from live records.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760C74-C761-49C5-9A7D-832D2B0E6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105275"/>
            <a:ext cx="2286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4C8C7AD-E027-4B9D-899A-547CF0FA3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105275"/>
            <a:ext cx="44005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6243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62434"/>
                </a:solidFill>
                <a:latin typeface="Arial"/>
                <a:ea typeface="Arial"/>
                <a:cs typeface="Arial"/>
              </a:rPr>
              <a:t>Show alert reason, evidence and saved settings.</a:t>
            </a:r>
          </a:p>
        </p:txBody>
      </p:sp>
    </p:spTree>
    <p:extLst>
      <p:ext uri="{BB962C8B-B14F-4D97-AF65-F5344CB8AC3E}">
        <p14:creationId xmlns:p14="http://schemas.microsoft.com/office/powerpoint/2010/main" val="179847343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fd9dce9eb34756"/>
          <a:stretch xmlns:a="http://schemas.openxmlformats.org/drawingml/2006/main"/>
        </p:blipFill>
        <p:spPr>
          <a:xfrm xmlns:a="http://schemas.openxmlformats.org/drawingml/2006/main">
            <a:off x="11068050" y="161925"/>
            <a:ext cx="714375" cy="714375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0233ED-F9B0-4894-B2AF-08244A326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742950"/>
            <a:ext cx="10477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Technology Stack &amp; Development Methodology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2B6B85-D2F8-4D8B-8823-168A830BE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13144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43769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3F2AC8-4B3D-499F-9BF5-07C5F07AF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77000"/>
            <a:ext cx="981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5A5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5A5A"/>
                </a:solidFill>
                <a:latin typeface="Arial"/>
                <a:ea typeface="Arial"/>
                <a:cs typeface="Arial"/>
              </a:rPr>
              <a:t>Department of Computer Science &amp; Engineering  |  Graphic Era (Deemed to be University)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414A37-190C-4819-AFB5-67C6A1139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77000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5A5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5A5A"/>
                </a:solidFill>
                <a:latin typeface="Arial"/>
                <a:ea typeface="Arial"/>
                <a:cs typeface="Arial"/>
              </a:rPr>
              <a:t>7/15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DFF651-DA7C-4CFC-BF94-FD3A22DBE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676400"/>
            <a:ext cx="485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Technology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CE24C0-2338-4B77-AA34-F664A2F55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1676400"/>
            <a:ext cx="485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Development method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C4EDE5-B9B0-4DA2-A80E-BC7674C84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200275"/>
            <a:ext cx="2286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2AD998-BE11-4F4E-B09F-8E6BFEACB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2200275"/>
            <a:ext cx="44005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6243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62434"/>
                </a:solidFill>
                <a:latin typeface="Arial"/>
                <a:ea typeface="Arial"/>
                <a:cs typeface="Arial"/>
              </a:rPr>
              <a:t>Linux auditd and ausearch for source records.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FA2B05-0665-4F49-968D-EC957B78C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152775"/>
            <a:ext cx="2286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42462B-00C3-42DA-88C3-5BA8A2104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3152775"/>
            <a:ext cx="44005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6243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62434"/>
                </a:solidFill>
                <a:latin typeface="Arial"/>
                <a:ea typeface="Arial"/>
                <a:cs typeface="Arial"/>
              </a:rPr>
              <a:t>Python, SQLAlchemy and PyMySQL for ingestion.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DED5EB-183B-4AA1-9E1E-370514F66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4105275"/>
            <a:ext cx="2286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2AE300-E078-4AB1-84D9-527347CDB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4105275"/>
            <a:ext cx="44005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6243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62434"/>
                </a:solidFill>
                <a:latin typeface="Arial"/>
                <a:ea typeface="Arial"/>
                <a:cs typeface="Arial"/>
              </a:rPr>
              <a:t>MySQL 8.4 and Flask for storage and review.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648548-27EF-403F-ABA2-AC429F548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200275"/>
            <a:ext cx="2286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D2AC08-84D1-4843-92EF-031EAD330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200275"/>
            <a:ext cx="44005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6243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62434"/>
                </a:solidFill>
                <a:latin typeface="Arial"/>
                <a:ea typeface="Arial"/>
                <a:cs typeface="Arial"/>
              </a:rPr>
              <a:t>Build one audit-to-alert path.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41C866-D8AA-4BC5-A0B5-F62DA124E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152775"/>
            <a:ext cx="2286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5F52350-6580-4C69-8C39-9389D27A6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152775"/>
            <a:ext cx="44005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6243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62434"/>
                </a:solidFill>
                <a:latin typeface="Arial"/>
                <a:ea typeface="Arial"/>
                <a:cs typeface="Arial"/>
              </a:rPr>
              <a:t>Verify parser and schema offline.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D803361-9ABF-45DA-B38C-19FE12F90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105275"/>
            <a:ext cx="2286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7ECEB60-F33A-4A53-8382-949D0E69C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105275"/>
            <a:ext cx="44005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6243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62434"/>
                </a:solidFill>
                <a:latin typeface="Arial"/>
                <a:ea typeface="Arial"/>
                <a:cs typeface="Arial"/>
              </a:rPr>
              <a:t>Run fixture and controlled Linux checks separately.</a:t>
            </a:r>
          </a:p>
        </p:txBody>
      </p:sp>
    </p:spTree>
    <p:extLst>
      <p:ext uri="{BB962C8B-B14F-4D97-AF65-F5344CB8AC3E}">
        <p14:creationId xmlns:p14="http://schemas.microsoft.com/office/powerpoint/2010/main" val="46765645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a7be505af345bc"/>
          <a:stretch xmlns:a="http://schemas.openxmlformats.org/drawingml/2006/main"/>
        </p:blipFill>
        <p:spPr>
          <a:xfrm xmlns:a="http://schemas.openxmlformats.org/drawingml/2006/main">
            <a:off x="11068050" y="161925"/>
            <a:ext cx="714375" cy="714375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2A22E9-9B5A-4C1C-A7AF-10078C553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742950"/>
            <a:ext cx="10477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Implementation of PBL Course Concepts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7BD96B-B130-4038-B1F8-EB646BFE4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13144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43769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CBB90D-877C-4010-AC73-B0F5F546A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77000"/>
            <a:ext cx="981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5A5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5A5A"/>
                </a:solidFill>
                <a:latin typeface="Arial"/>
                <a:ea typeface="Arial"/>
                <a:cs typeface="Arial"/>
              </a:rPr>
              <a:t>Department of Computer Science &amp; Engineering  |  Graphic Era (Deemed to be University)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FED44F-8F3B-4D7C-9129-DE8F4093A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77000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5A5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5A5A"/>
                </a:solidFill>
                <a:latin typeface="Arial"/>
                <a:ea typeface="Arial"/>
                <a:cs typeface="Arial"/>
              </a:rPr>
              <a:t>8/15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66750" y="1733550"/>
          <a:ext xmlns:a="http://schemas.openxmlformats.org/drawingml/2006/main" cx="10801350" cy="2286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4619625"/>
                <a:gridCol w="3324225"/>
              </a:tblGrid>
              <a:tr h="5715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500" b="1">
                          <a:solidFill>
                            <a:srgbClr val="143769"/>
                          </a:solidFill>
                          <a:latin typeface="Arial"/>
                          <a:ea typeface="Arial"/>
                          <a:cs typeface="Arial"/>
                        </a:rPr>
                        <a:t>Course</a:t>
                      </a:r>
                    </a:p>
                  </a:txBody>
                  <a:tcPr marL="91440" marR="91440" marT="45720" marB="45720">
                    <a:solidFill>
                      <a:srgbClr val="EEF4FB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500" b="1">
                          <a:solidFill>
                            <a:srgbClr val="143769"/>
                          </a:solidFill>
                          <a:latin typeface="Arial"/>
                          <a:ea typeface="Arial"/>
                          <a:cs typeface="Arial"/>
                        </a:rPr>
                        <a:t>Concept applied</a:t>
                      </a:r>
                    </a:p>
                  </a:txBody>
                  <a:tcPr marL="91440" marR="91440" marT="45720" marB="45720">
                    <a:solidFill>
                      <a:srgbClr val="EEF4FB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500" b="1">
                          <a:solidFill>
                            <a:srgbClr val="143769"/>
                          </a:solidFill>
                          <a:latin typeface="Arial"/>
                          <a:ea typeface="Arial"/>
                          <a:cs typeface="Arial"/>
                        </a:rPr>
                        <a:t>Project module</a:t>
                      </a:r>
                    </a:p>
                  </a:txBody>
                  <a:tcPr marL="91440" marR="91440" marT="45720" marB="45720">
                    <a:solidFill>
                      <a:srgbClr val="EEF4FB"/>
                    </a:solidFill>
                  </a:tcPr>
                </a:tc>
              </a:tr>
              <a:tr h="5715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62434"/>
                          </a:solidFill>
                          <a:latin typeface="Arial"/>
                          <a:ea typeface="Arial"/>
                          <a:cs typeface="Arial"/>
                        </a:rPr>
                        <a:t>Operating Systems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62434"/>
                          </a:solidFill>
                          <a:latin typeface="Arial"/>
                          <a:ea typeface="Arial"/>
                          <a:cs typeface="Arial"/>
                        </a:rPr>
                        <a:t>Audit records, UID/AUID/EUID, protected path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62434"/>
                          </a:solidFill>
                          <a:latin typeface="Arial"/>
                          <a:ea typeface="Arial"/>
                          <a:cs typeface="Arial"/>
                        </a:rPr>
                        <a:t>Rule and parser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62434"/>
                          </a:solidFill>
                          <a:latin typeface="Arial"/>
                          <a:ea typeface="Arial"/>
                          <a:cs typeface="Arial"/>
                        </a:rPr>
                        <a:t>DBMS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62434"/>
                          </a:solidFill>
                          <a:latin typeface="Arial"/>
                          <a:ea typeface="Arial"/>
                          <a:cs typeface="Arial"/>
                        </a:rPr>
                        <a:t>Keys, foreign keys, joins and transactions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62434"/>
                          </a:solidFill>
                          <a:latin typeface="Arial"/>
                          <a:ea typeface="Arial"/>
                          <a:cs typeface="Arial"/>
                        </a:rPr>
                        <a:t>Eight-table MySQL schema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62434"/>
                          </a:solidFill>
                          <a:latin typeface="Arial"/>
                          <a:ea typeface="Arial"/>
                          <a:cs typeface="Arial"/>
                        </a:rPr>
                        <a:t>Software Engineering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62434"/>
                          </a:solidFill>
                          <a:latin typeface="Arial"/>
                          <a:ea typeface="Arial"/>
                          <a:cs typeface="Arial"/>
                        </a:rPr>
                        <a:t>Config validation and repeatable tests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62434"/>
                          </a:solidFill>
                          <a:latin typeface="Arial"/>
                          <a:ea typeface="Arial"/>
                          <a:cs typeface="Arial"/>
                        </a:rPr>
                        <a:t>CLI, fixture and tests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2715417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1150d22de5438d"/>
          <a:stretch xmlns:a="http://schemas.openxmlformats.org/drawingml/2006/main"/>
        </p:blipFill>
        <p:spPr>
          <a:xfrm xmlns:a="http://schemas.openxmlformats.org/drawingml/2006/main">
            <a:off x="11068050" y="161925"/>
            <a:ext cx="714375" cy="714375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BC4C03-226C-481A-82E6-7FFE80DB2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742950"/>
            <a:ext cx="10477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Development &amp; Implementation Progress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91C08C-DC60-4497-8A5B-0F249B1A2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13144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43769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136867-480E-4686-9DD2-5A203E301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77000"/>
            <a:ext cx="981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5A5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5A5A"/>
                </a:solidFill>
                <a:latin typeface="Arial"/>
                <a:ea typeface="Arial"/>
                <a:cs typeface="Arial"/>
              </a:rPr>
              <a:t>Department of Computer Science &amp; Engineering  |  Graphic Era (Deemed to be University)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CE06D8-365C-4F59-B8E6-0830DE20B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77000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5A5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5A5A"/>
                </a:solidFill>
                <a:latin typeface="Arial"/>
                <a:ea typeface="Arial"/>
                <a:cs typeface="Arial"/>
              </a:rPr>
              <a:t>9/15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66750" y="1733550"/>
          <a:ext xmlns:a="http://schemas.openxmlformats.org/drawingml/2006/main" cx="10801350" cy="2857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571875"/>
                <a:gridCol w="1714500"/>
                <a:gridCol w="5514975"/>
              </a:tblGrid>
              <a:tr h="5715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500" b="1">
                          <a:solidFill>
                            <a:srgbClr val="143769"/>
                          </a:solidFill>
                          <a:latin typeface="Arial"/>
                          <a:ea typeface="Arial"/>
                          <a:cs typeface="Arial"/>
                        </a:rPr>
                        <a:t>Component</a:t>
                      </a:r>
                    </a:p>
                  </a:txBody>
                  <a:tcPr marL="91440" marR="91440" marT="45720" marB="45720">
                    <a:solidFill>
                      <a:srgbClr val="EEF4FB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500" b="1">
                          <a:solidFill>
                            <a:srgbClr val="143769"/>
                          </a:solidFill>
                          <a:latin typeface="Arial"/>
                          <a:ea typeface="Arial"/>
                          <a:cs typeface="Arial"/>
                        </a:rPr>
                        <a:t>Status</a:t>
                      </a:r>
                    </a:p>
                  </a:txBody>
                  <a:tcPr marL="91440" marR="91440" marT="45720" marB="45720">
                    <a:solidFill>
                      <a:srgbClr val="EEF4FB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500" b="1">
                          <a:solidFill>
                            <a:srgbClr val="143769"/>
                          </a:solidFill>
                          <a:latin typeface="Arial"/>
                          <a:ea typeface="Arial"/>
                          <a:cs typeface="Arial"/>
                        </a:rPr>
                        <a:t>Evidence</a:t>
                      </a:r>
                    </a:p>
                  </a:txBody>
                  <a:tcPr marL="91440" marR="91440" marT="45720" marB="45720">
                    <a:solidFill>
                      <a:srgbClr val="EEF4FB"/>
                    </a:solidFill>
                  </a:tcPr>
                </a:tc>
              </a:tr>
              <a:tr h="5715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62434"/>
                          </a:solidFill>
                          <a:latin typeface="Arial"/>
                          <a:ea typeface="Arial"/>
                          <a:cs typeface="Arial"/>
                        </a:rPr>
                        <a:t>Audit parser and collector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62434"/>
                          </a:solidFill>
                          <a:latin typeface="Arial"/>
                          <a:ea typeface="Arial"/>
                          <a:cs typeface="Arial"/>
                        </a:rPr>
                        <a:t>Complete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62434"/>
                          </a:solidFill>
                          <a:latin typeface="Arial"/>
                          <a:ea typeface="Arial"/>
                          <a:cs typeface="Arial"/>
                        </a:rPr>
                        <a:t>parser.py and app.py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62434"/>
                          </a:solidFill>
                          <a:latin typeface="Arial"/>
                          <a:ea typeface="Arial"/>
                          <a:cs typeface="Arial"/>
                        </a:rPr>
                        <a:t>Relational schema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62434"/>
                          </a:solidFill>
                          <a:latin typeface="Arial"/>
                          <a:ea typeface="Arial"/>
                          <a:cs typeface="Arial"/>
                        </a:rPr>
                        <a:t>Complete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62434"/>
                          </a:solidFill>
                          <a:latin typeface="Arial"/>
                          <a:ea typeface="Arial"/>
                          <a:cs typeface="Arial"/>
                        </a:rPr>
                        <a:t>core.py and schema.mysql.sql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62434"/>
                          </a:solidFill>
                          <a:latin typeface="Arial"/>
                          <a:ea typeface="Arial"/>
                          <a:cs typeface="Arial"/>
                        </a:rPr>
                        <a:t>Two policies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62434"/>
                          </a:solidFill>
                          <a:latin typeface="Arial"/>
                          <a:ea typeface="Arial"/>
                          <a:cs typeface="Arial"/>
                        </a:rPr>
                        <a:t>Complete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62434"/>
                          </a:solidFill>
                          <a:latin typeface="Arial"/>
                          <a:ea typeface="Arial"/>
                          <a:cs typeface="Arial"/>
                        </a:rPr>
                        <a:t>core.py and fixture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62434"/>
                          </a:solidFill>
                          <a:latin typeface="Arial"/>
                          <a:ea typeface="Arial"/>
                          <a:cs typeface="Arial"/>
                        </a:rPr>
                        <a:t>Dashboard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62434"/>
                          </a:solidFill>
                          <a:latin typeface="Arial"/>
                          <a:ea typeface="Arial"/>
                          <a:cs typeface="Arial"/>
                        </a:rPr>
                        <a:t>Complete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62434"/>
                          </a:solidFill>
                          <a:latin typeface="Arial"/>
                          <a:ea typeface="Arial"/>
                          <a:cs typeface="Arial"/>
                        </a:rPr>
                        <a:t>Flask templates and routes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4492399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3ca4b768ab41c7"/>
          <a:stretch xmlns:a="http://schemas.openxmlformats.org/drawingml/2006/main"/>
        </p:blipFill>
        <p:spPr>
          <a:xfrm xmlns:a="http://schemas.openxmlformats.org/drawingml/2006/main">
            <a:off x="11068050" y="161925"/>
            <a:ext cx="714375" cy="714375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4711B1-045C-4F14-B500-3C0BA5692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742950"/>
            <a:ext cx="10477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Working Prototype / Demonstration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41E989-AFA9-4FEC-B3C3-34CA5D65C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13144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43769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38FB1C-B335-454B-9499-F5EA4CE24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77000"/>
            <a:ext cx="981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5A5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5A5A"/>
                </a:solidFill>
                <a:latin typeface="Arial"/>
                <a:ea typeface="Arial"/>
                <a:cs typeface="Arial"/>
              </a:rPr>
              <a:t>Department of Computer Science &amp; Engineering  |  Graphic Era (Deemed to be University)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609A72-B8EB-4375-9B0E-70D2A061B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77000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5A5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5A5A"/>
                </a:solidFill>
                <a:latin typeface="Arial"/>
                <a:ea typeface="Arial"/>
                <a:cs typeface="Arial"/>
              </a:rPr>
              <a:t>10/15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689E4B-EB74-412A-A0EB-52AB239A9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52575"/>
            <a:ext cx="108966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EEF4FB"/>
          </a:solidFill>
          <a:ln xmlns:a="http://schemas.openxmlformats.org/drawingml/2006/main" w="9525">
            <a:solidFill>
              <a:srgbClr val="D6E3F2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52FE2A-08E6-42B1-A79A-3A11D01A8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66875"/>
            <a:ext cx="10553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F1B43D-B32F-403C-B0F1-EEA6CE9F7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38350"/>
            <a:ext cx="10553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6243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62434"/>
                </a:solidFill>
                <a:latin typeface="Arial"/>
                <a:ea typeface="Arial"/>
                <a:cs typeface="Arial"/>
              </a:rPr>
              <a:t>A prepared fixture traces records through storage, rules and the dashboard.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9ECADF-752A-45E3-845B-6659CF9DD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857500"/>
            <a:ext cx="2286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52DC8D-05AE-4F91-ABA8-DCCEC44DA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2857500"/>
            <a:ext cx="10353675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6243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62434"/>
                </a:solidFill>
                <a:latin typeface="Arial"/>
                <a:ea typeface="Arial"/>
                <a:cs typeface="Arial"/>
              </a:rPr>
              <a:t>Import nine origin=demo audit events.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586AF6-E29C-4E42-8493-FB0B554F9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648075"/>
            <a:ext cx="2286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73E9E9-ECD9-45BF-B1A8-8CBAADD7E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3648075"/>
            <a:ext cx="10353675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6243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62434"/>
                </a:solidFill>
                <a:latin typeface="Arial"/>
                <a:ea typeface="Arial"/>
                <a:cs typeface="Arial"/>
              </a:rPr>
              <a:t>Inspect two alerts and six event-evidence links.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FCE762-9895-4384-8F73-20B1C3F27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4438650"/>
            <a:ext cx="2286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365F7D-86EB-4F43-8894-EDAA5B773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4438650"/>
            <a:ext cx="10353675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6243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62434"/>
                </a:solidFill>
                <a:latin typeface="Arial"/>
                <a:ea typeface="Arial"/>
                <a:cs typeface="Arial"/>
              </a:rPr>
              <a:t>For live evidence, read a harmless protected file and find its origin=live row.</a:t>
            </a:r>
          </a:p>
        </p:txBody>
      </p:sp>
    </p:spTree>
    <p:extLst>
      <p:ext uri="{BB962C8B-B14F-4D97-AF65-F5344CB8AC3E}">
        <p14:creationId xmlns:p14="http://schemas.microsoft.com/office/powerpoint/2010/main" val="16601510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4786d440104c72"/>
          <a:stretch xmlns:a="http://schemas.openxmlformats.org/drawingml/2006/main"/>
        </p:blipFill>
        <p:spPr>
          <a:xfrm xmlns:a="http://schemas.openxmlformats.org/drawingml/2006/main">
            <a:off x="11068050" y="161925"/>
            <a:ext cx="714375" cy="714375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D74687-7976-44A4-AE85-B9F07AA98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742950"/>
            <a:ext cx="10477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Testing, Results &amp; Validation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967F85-25D0-4C37-9220-1D2AF82C1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13144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43769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3600B7-5566-482F-96F3-C9DE50727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77000"/>
            <a:ext cx="981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5A5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5A5A"/>
                </a:solidFill>
                <a:latin typeface="Arial"/>
                <a:ea typeface="Arial"/>
                <a:cs typeface="Arial"/>
              </a:rPr>
              <a:t>Department of Computer Science &amp; Engineering  |  Graphic Era (Deemed to be University)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FC7A8C-601E-4877-A8DB-FA28E84A9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77000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5A5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5A5A"/>
                </a:solidFill>
                <a:latin typeface="Arial"/>
                <a:ea typeface="Arial"/>
                <a:cs typeface="Arial"/>
              </a:rPr>
              <a:t>11/15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66750" y="1733550"/>
          <a:ext xmlns:a="http://schemas.openxmlformats.org/drawingml/2006/main" cx="10801350" cy="2857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333750"/>
                <a:gridCol w="2476500"/>
                <a:gridCol w="4991100"/>
              </a:tblGrid>
              <a:tr h="5715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500" b="1">
                          <a:solidFill>
                            <a:srgbClr val="143769"/>
                          </a:solidFill>
                          <a:latin typeface="Arial"/>
                          <a:ea typeface="Arial"/>
                          <a:cs typeface="Arial"/>
                        </a:rPr>
                        <a:t>Check</a:t>
                      </a:r>
                    </a:p>
                  </a:txBody>
                  <a:tcPr marL="91440" marR="91440" marT="45720" marB="45720">
                    <a:solidFill>
                      <a:srgbClr val="EEF4FB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500" b="1">
                          <a:solidFill>
                            <a:srgbClr val="143769"/>
                          </a:solidFill>
                          <a:latin typeface="Arial"/>
                          <a:ea typeface="Arial"/>
                          <a:cs typeface="Arial"/>
                        </a:rPr>
                        <a:t>Result</a:t>
                      </a:r>
                    </a:p>
                  </a:txBody>
                  <a:tcPr marL="91440" marR="91440" marT="45720" marB="45720">
                    <a:solidFill>
                      <a:srgbClr val="EEF4FB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500" b="1">
                          <a:solidFill>
                            <a:srgbClr val="143769"/>
                          </a:solidFill>
                          <a:latin typeface="Arial"/>
                          <a:ea typeface="Arial"/>
                          <a:cs typeface="Arial"/>
                        </a:rPr>
                        <a:t>Evidence scope</a:t>
                      </a:r>
                    </a:p>
                  </a:txBody>
                  <a:tcPr marL="91440" marR="91440" marT="45720" marB="45720">
                    <a:solidFill>
                      <a:srgbClr val="EEF4FB"/>
                    </a:solidFill>
                  </a:tcPr>
                </a:tc>
              </a:tr>
              <a:tr h="5715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62434"/>
                          </a:solidFill>
                          <a:latin typeface="Arial"/>
                          <a:ea typeface="Arial"/>
                          <a:cs typeface="Arial"/>
                        </a:rPr>
                        <a:t>Local automated tests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62434"/>
                          </a:solidFill>
                          <a:latin typeface="Arial"/>
                          <a:ea typeface="Arial"/>
                          <a:cs typeface="Arial"/>
                        </a:rPr>
                        <a:t>3 passed; 1 skipped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62434"/>
                          </a:solidFill>
                          <a:latin typeface="Arial"/>
                          <a:ea typeface="Arial"/>
                          <a:cs typeface="Arial"/>
                        </a:rPr>
                        <a:t>MySQL integration opt-in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62434"/>
                          </a:solidFill>
                          <a:latin typeface="Arial"/>
                          <a:ea typeface="Arial"/>
                          <a:cs typeface="Arial"/>
                        </a:rPr>
                        <a:t>MySQL 8.4 integration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62434"/>
                          </a:solidFill>
                          <a:latin typeface="Arial"/>
                          <a:ea typeface="Arial"/>
                          <a:cs typeface="Arial"/>
                        </a:rPr>
                        <a:t>4 passed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62434"/>
                          </a:solidFill>
                          <a:latin typeface="Arial"/>
                          <a:ea typeface="Arial"/>
                          <a:cs typeface="Arial"/>
                        </a:rPr>
                        <a:t>Recorded Kali run, 2 Oct 2026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62434"/>
                          </a:solidFill>
                          <a:latin typeface="Arial"/>
                          <a:ea typeface="Arial"/>
                          <a:cs typeface="Arial"/>
                        </a:rPr>
                        <a:t>Protected file read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62434"/>
                          </a:solidFill>
                          <a:latin typeface="Arial"/>
                          <a:ea typeface="Arial"/>
                          <a:cs typeface="Arial"/>
                        </a:rPr>
                        <a:t>Observed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62434"/>
                          </a:solidFill>
                          <a:latin typeface="Arial"/>
                          <a:ea typeface="Arial"/>
                          <a:cs typeface="Arial"/>
                        </a:rPr>
                        <a:t>Live audit and DB row on Kali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62434"/>
                          </a:solidFill>
                          <a:latin typeface="Arial"/>
                          <a:ea typeface="Arial"/>
                          <a:cs typeface="Arial"/>
                        </a:rPr>
                        <a:t>Fixture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62434"/>
                          </a:solidFill>
                          <a:latin typeface="Arial"/>
                          <a:ea typeface="Arial"/>
                          <a:cs typeface="Arial"/>
                        </a:rPr>
                        <a:t>9 events; 2 alerts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62434"/>
                          </a:solidFill>
                          <a:latin typeface="Arial"/>
                          <a:ea typeface="Arial"/>
                          <a:cs typeface="Arial"/>
                        </a:rPr>
                        <a:t>Synthetic, replay safe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0634077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dd15b85def4755"/>
          <a:stretch xmlns:a="http://schemas.openxmlformats.org/drawingml/2006/main"/>
        </p:blipFill>
        <p:spPr>
          <a:xfrm xmlns:a="http://schemas.openxmlformats.org/drawingml/2006/main">
            <a:off x="11068050" y="161925"/>
            <a:ext cx="714375" cy="714375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2434AB-3510-4A18-A297-E50FE6564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742950"/>
            <a:ext cx="10477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GitHub Repository &amp; Development Activity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9B1CAD-4730-49B3-8DFB-B26676087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13144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43769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DA6C05-D159-4CF6-88BD-525CAB4C9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77000"/>
            <a:ext cx="981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5A5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5A5A"/>
                </a:solidFill>
                <a:latin typeface="Arial"/>
                <a:ea typeface="Arial"/>
                <a:cs typeface="Arial"/>
              </a:rPr>
              <a:t>Department of Computer Science &amp; Engineering  |  Graphic Era (Deemed to be University)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F6A803-3148-4424-AEDA-BE9E14DE9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77000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5A5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5A5A"/>
                </a:solidFill>
                <a:latin typeface="Arial"/>
                <a:ea typeface="Arial"/>
                <a:cs typeface="Arial"/>
              </a:rPr>
              <a:t>12/15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661745-0543-4C82-B9F7-DEBB4D01F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676400"/>
            <a:ext cx="485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Available source record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5ABE6F-C7BD-4228-920B-7BE76F62E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1676400"/>
            <a:ext cx="485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Evidence boundary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C2780B-5F18-44DA-AE8E-B25AD0013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200275"/>
            <a:ext cx="2286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0F676A-AE14-4138-933A-4C4CEFC96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2200275"/>
            <a:ext cx="44005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6243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62434"/>
                </a:solidFill>
                <a:latin typeface="Arial"/>
                <a:ea typeface="Arial"/>
                <a:cs typeface="Arial"/>
              </a:rPr>
              <a:t>Local folder: C:\KernalGuard-Phase2-PBL.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96FA4A-DB1C-4954-B254-CF074E4BA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152775"/>
            <a:ext cx="2286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8D5020-35C2-4DF9-9D4D-E47F05F3D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3152775"/>
            <a:ext cx="44005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6243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62434"/>
                </a:solidFill>
                <a:latin typeface="Arial"/>
                <a:ea typeface="Arial"/>
                <a:cs typeface="Arial"/>
              </a:rPr>
              <a:t>Current branch: main.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105C2D-AEA5-4C6E-8314-2A441D6C4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4105275"/>
            <a:ext cx="2286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FDC336-2FC5-4488-A7D9-329070F35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4105275"/>
            <a:ext cx="44005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6243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62434"/>
                </a:solidFill>
                <a:latin typeface="Arial"/>
                <a:ea typeface="Arial"/>
                <a:cs typeface="Arial"/>
              </a:rPr>
              <a:t>The standalone folder has no commit history.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66F670-D0A0-4AE9-B1F7-6C7C4DE14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200275"/>
            <a:ext cx="2286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A02A41-DC18-4FF5-BCD5-0FF73D7C5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200275"/>
            <a:ext cx="44005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6243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62434"/>
                </a:solidFill>
                <a:latin typeface="Arial"/>
                <a:ea typeface="Arial"/>
                <a:cs typeface="Arial"/>
              </a:rPr>
              <a:t>No public remote is configured in this copy.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4306DF-3C87-499A-9659-B92328A04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152775"/>
            <a:ext cx="2286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925F3C-13E2-450E-8AB8-0B393D9EB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152775"/>
            <a:ext cx="44005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6243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62434"/>
                </a:solidFill>
                <a:latin typeface="Arial"/>
                <a:ea typeface="Arial"/>
                <a:cs typeface="Arial"/>
              </a:rPr>
              <a:t>Individual commit counts cannot be derived from it.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7135FC6-20E5-4701-89B9-E79009A9D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105275"/>
            <a:ext cx="2286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3C8F313-1E43-4950-B516-346E775E4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105275"/>
            <a:ext cx="44005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6243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62434"/>
                </a:solidFill>
                <a:latin typeface="Arial"/>
                <a:ea typeface="Arial"/>
                <a:cs typeface="Arial"/>
              </a:rPr>
              <a:t>The completed project has separate history.</a:t>
            </a:r>
          </a:p>
        </p:txBody>
      </p:sp>
    </p:spTree>
    <p:extLst>
      <p:ext uri="{BB962C8B-B14F-4D97-AF65-F5344CB8AC3E}">
        <p14:creationId xmlns:p14="http://schemas.microsoft.com/office/powerpoint/2010/main" val="98022357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4775c3ba1a4473"/>
          <a:stretch xmlns:a="http://schemas.openxmlformats.org/drawingml/2006/main"/>
        </p:blipFill>
        <p:spPr>
          <a:xfrm xmlns:a="http://schemas.openxmlformats.org/drawingml/2006/main">
            <a:off x="11068050" y="161925"/>
            <a:ext cx="714375" cy="714375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BBE0C7-0475-47E9-96DB-F928D5D3A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742950"/>
            <a:ext cx="10477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Individual Contribution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5E2146-5FC2-4515-9027-8D025E6FA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13144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43769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A916CF-8C00-46C7-A4F0-C893A5D31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77000"/>
            <a:ext cx="981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5A5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5A5A"/>
                </a:solidFill>
                <a:latin typeface="Arial"/>
                <a:ea typeface="Arial"/>
                <a:cs typeface="Arial"/>
              </a:rPr>
              <a:t>Department of Computer Science &amp; Engineering  |  Graphic Era (Deemed to be University)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7A7911-D0BA-4312-A4F2-5BB2D364D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77000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5A5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5A5A"/>
                </a:solidFill>
                <a:latin typeface="Arial"/>
                <a:ea typeface="Arial"/>
                <a:cs typeface="Arial"/>
              </a:rPr>
              <a:t>13/15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66750" y="1733550"/>
          <a:ext xmlns:a="http://schemas.openxmlformats.org/drawingml/2006/main" cx="10801350" cy="2857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52750"/>
                <a:gridCol w="3048000"/>
                <a:gridCol w="4800600"/>
              </a:tblGrid>
              <a:tr h="5715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500" b="1">
                          <a:solidFill>
                            <a:srgbClr val="143769"/>
                          </a:solidFill>
                          <a:latin typeface="Arial"/>
                          <a:ea typeface="Arial"/>
                          <a:cs typeface="Arial"/>
                        </a:rPr>
                        <a:t>Member</a:t>
                      </a:r>
                    </a:p>
                  </a:txBody>
                  <a:tcPr marL="91440" marR="91440" marT="45720" marB="45720">
                    <a:solidFill>
                      <a:srgbClr val="EEF4FB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500" b="1">
                          <a:solidFill>
                            <a:srgbClr val="143769"/>
                          </a:solidFill>
                          <a:latin typeface="Arial"/>
                          <a:ea typeface="Arial"/>
                          <a:cs typeface="Arial"/>
                        </a:rPr>
                        <a:t>Presentation area</a:t>
                      </a:r>
                    </a:p>
                  </a:txBody>
                  <a:tcPr marL="91440" marR="91440" marT="45720" marB="45720">
                    <a:solidFill>
                      <a:srgbClr val="EEF4FB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500" b="1">
                          <a:solidFill>
                            <a:srgbClr val="143769"/>
                          </a:solidFill>
                          <a:latin typeface="Arial"/>
                          <a:ea typeface="Arial"/>
                          <a:cs typeface="Arial"/>
                        </a:rPr>
                        <a:t>Source area</a:t>
                      </a:r>
                    </a:p>
                  </a:txBody>
                  <a:tcPr marL="91440" marR="91440" marT="45720" marB="45720">
                    <a:solidFill>
                      <a:srgbClr val="EEF4FB"/>
                    </a:solidFill>
                  </a:tcPr>
                </a:tc>
              </a:tr>
              <a:tr h="5715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62434"/>
                          </a:solidFill>
                          <a:latin typeface="Arial"/>
                          <a:ea typeface="Arial"/>
                          <a:cs typeface="Arial"/>
                        </a:rPr>
                        <a:t>Arshpreet Singh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62434"/>
                          </a:solidFill>
                          <a:latin typeface="Arial"/>
                          <a:ea typeface="Arial"/>
                          <a:cs typeface="Arial"/>
                        </a:rPr>
                        <a:t>Audit collection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62434"/>
                          </a:solidFill>
                          <a:latin typeface="Arial"/>
                          <a:ea typeface="Arial"/>
                          <a:cs typeface="Arial"/>
                        </a:rPr>
                        <a:t>rule, parser, checkpoint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62434"/>
                          </a:solidFill>
                          <a:latin typeface="Arial"/>
                          <a:ea typeface="Arial"/>
                          <a:cs typeface="Arial"/>
                        </a:rPr>
                        <a:t>Mohd Ahmed Khan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62434"/>
                          </a:solidFill>
                          <a:latin typeface="Arial"/>
                          <a:ea typeface="Arial"/>
                          <a:cs typeface="Arial"/>
                        </a:rPr>
                        <a:t>Database design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62434"/>
                          </a:solidFill>
                          <a:latin typeface="Arial"/>
                          <a:ea typeface="Arial"/>
                          <a:cs typeface="Arial"/>
                        </a:rPr>
                        <a:t>schema and SQL analysis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62434"/>
                          </a:solidFill>
                          <a:latin typeface="Arial"/>
                          <a:ea typeface="Arial"/>
                          <a:cs typeface="Arial"/>
                        </a:rPr>
                        <a:t>Ankit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62434"/>
                          </a:solidFill>
                          <a:latin typeface="Arial"/>
                          <a:ea typeface="Arial"/>
                          <a:cs typeface="Arial"/>
                        </a:rPr>
                        <a:t>Detection and tests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62434"/>
                          </a:solidFill>
                          <a:latin typeface="Arial"/>
                          <a:ea typeface="Arial"/>
                          <a:cs typeface="Arial"/>
                        </a:rPr>
                        <a:t>rules and fixture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62434"/>
                          </a:solidFill>
                          <a:latin typeface="Arial"/>
                          <a:ea typeface="Arial"/>
                          <a:cs typeface="Arial"/>
                        </a:rPr>
                        <a:t>Mohd Shoaib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62434"/>
                          </a:solidFill>
                          <a:latin typeface="Arial"/>
                          <a:ea typeface="Arial"/>
                          <a:cs typeface="Arial"/>
                        </a:rPr>
                        <a:t>Dashboard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62434"/>
                          </a:solidFill>
                          <a:latin typeface="Arial"/>
                          <a:ea typeface="Arial"/>
                          <a:cs typeface="Arial"/>
                        </a:rPr>
                        <a:t>views and evidence pages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2622950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b0a6e59a5243a9"/>
          <a:stretch xmlns:a="http://schemas.openxmlformats.org/drawingml/2006/main"/>
        </p:blipFill>
        <p:spPr>
          <a:xfrm xmlns:a="http://schemas.openxmlformats.org/drawingml/2006/main">
            <a:off x="11068050" y="161925"/>
            <a:ext cx="714375" cy="714375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28CF52-A847-425C-B86C-964186DB8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742950"/>
            <a:ext cx="10477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Challenges, Remaining Work &amp; Phase-III Roadmap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51705D-3206-4C96-8795-789CDA054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13144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43769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144BF2-3AD5-4894-A2DB-9750356F2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77000"/>
            <a:ext cx="981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5A5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5A5A"/>
                </a:solidFill>
                <a:latin typeface="Arial"/>
                <a:ea typeface="Arial"/>
                <a:cs typeface="Arial"/>
              </a:rPr>
              <a:t>Department of Computer Science &amp; Engineering  |  Graphic Era (Deemed to be University)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843284-52C5-48EC-9EA0-CD31AAEC0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77000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5A5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5A5A"/>
                </a:solidFill>
                <a:latin typeface="Arial"/>
                <a:ea typeface="Arial"/>
                <a:cs typeface="Arial"/>
              </a:rPr>
              <a:t>14/15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9B9124-98E2-4D18-8B70-6CE3404E4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676400"/>
            <a:ext cx="485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Phase II challenges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066927-FFEE-42EA-A102-F125F4BCC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1676400"/>
            <a:ext cx="485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Phase III scope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5B5E31-7343-42CB-BD79-4E6B2EBBC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200275"/>
            <a:ext cx="2286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F4438B-8E82-4AEC-924A-BB7A6B0A0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2200275"/>
            <a:ext cx="44005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6243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62434"/>
                </a:solidFill>
                <a:latin typeface="Arial"/>
                <a:ea typeface="Arial"/>
                <a:cs typeface="Arial"/>
              </a:rPr>
              <a:t>Group multi-line audit records.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C5E259-0C78-4EAA-8745-9345D90A5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152775"/>
            <a:ext cx="2286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870B2E-633C-47C7-ABAE-820251E58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3152775"/>
            <a:ext cx="44005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6243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62434"/>
                </a:solidFill>
                <a:latin typeface="Arial"/>
                <a:ea typeface="Arial"/>
                <a:cs typeface="Arial"/>
              </a:rPr>
              <a:t>Avoid duplicate replay after restart.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3E342B-D9D3-4FA2-ADF1-DDBFE7E38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4105275"/>
            <a:ext cx="2286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4DA3FD-953D-432E-A7AA-FEFF23BDD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4105275"/>
            <a:ext cx="44005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6243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62434"/>
                </a:solidFill>
                <a:latin typeface="Arial"/>
                <a:ea typeface="Arial"/>
                <a:cs typeface="Arial"/>
              </a:rPr>
              <a:t>Distinguish synthetic from live evidence.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41FF4D-2A47-471E-B998-3301FB037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200275"/>
            <a:ext cx="2286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7176B1-B849-4F11-A783-251E60732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200275"/>
            <a:ext cx="44005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6243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62434"/>
                </a:solidFill>
                <a:latin typeface="Arial"/>
                <a:ea typeface="Arial"/>
                <a:cs typeface="Arial"/>
              </a:rPr>
              <a:t>Add user, process and USB inventory.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BACE95-14C1-46B9-AFF0-001E0D006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152775"/>
            <a:ext cx="2286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A55053-D8E6-4766-BA12-68F3F22C0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152775"/>
            <a:ext cx="44005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6243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62434"/>
                </a:solidFill>
                <a:latin typeface="Arial"/>
                <a:ea typeface="Arial"/>
                <a:cs typeface="Arial"/>
              </a:rPr>
              <a:t>Add bulk-file, privileged-command and USB policies.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D5E18A-CC73-447A-AB95-7565D96F5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105275"/>
            <a:ext cx="2286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E904C0B-F109-4958-9EA4-0C361B9FE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105275"/>
            <a:ext cx="44005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6243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62434"/>
                </a:solidFill>
                <a:latin typeface="Arial"/>
                <a:ea typeface="Arial"/>
                <a:cs typeface="Arial"/>
              </a:rPr>
              <a:t>Add authenticated review history.</a:t>
            </a:r>
          </a:p>
        </p:txBody>
      </p:sp>
    </p:spTree>
    <p:extLst>
      <p:ext uri="{BB962C8B-B14F-4D97-AF65-F5344CB8AC3E}">
        <p14:creationId xmlns:p14="http://schemas.microsoft.com/office/powerpoint/2010/main" val="161104998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ca588e85044fd6"/>
          <a:stretch xmlns:a="http://schemas.openxmlformats.org/drawingml/2006/main"/>
        </p:blipFill>
        <p:spPr>
          <a:xfrm xmlns:a="http://schemas.openxmlformats.org/drawingml/2006/main">
            <a:off x="11068050" y="161925"/>
            <a:ext cx="714375" cy="714375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8556ED-3E87-4351-8D64-50AD281A3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742950"/>
            <a:ext cx="10477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Expected Outcomes &amp; References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2806C9-2C8A-4247-9059-F5CC400D2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13144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43769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417EE4-5875-44FA-8B42-B35CC2D60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77000"/>
            <a:ext cx="981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5A5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5A5A"/>
                </a:solidFill>
                <a:latin typeface="Arial"/>
                <a:ea typeface="Arial"/>
                <a:cs typeface="Arial"/>
              </a:rPr>
              <a:t>Department of Computer Science &amp; Engineering  |  Graphic Era (Deemed to be University)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F5A003-E786-4347-A428-892F1B332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77000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5A5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5A5A"/>
                </a:solidFill>
                <a:latin typeface="Arial"/>
                <a:ea typeface="Arial"/>
                <a:cs typeface="Arial"/>
              </a:rPr>
              <a:t>15/15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56B1E5-B188-4EEA-98B3-2EFF38C22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676400"/>
            <a:ext cx="485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Phase II outcome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E4AA25-B80A-4657-90C0-248980D47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1676400"/>
            <a:ext cx="485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References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8575DA-0607-4D69-A671-86CA4324C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200275"/>
            <a:ext cx="2286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0963E0-5094-4B01-941C-C0679B89C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2200275"/>
            <a:ext cx="44005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6243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62434"/>
                </a:solidFill>
                <a:latin typeface="Arial"/>
                <a:ea typeface="Arial"/>
                <a:cs typeface="Arial"/>
              </a:rPr>
              <a:t>Working audit-to-alert prototype.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60C591-2382-4BBD-BDC3-7D501078E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152775"/>
            <a:ext cx="2286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11F20F-40C9-4720-8BAD-FDEC60953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3152775"/>
            <a:ext cx="44005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6243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62434"/>
                </a:solidFill>
                <a:latin typeface="Arial"/>
                <a:ea typeface="Arial"/>
                <a:cs typeface="Arial"/>
              </a:rPr>
              <a:t>Eight MySQL tables and read-only dashboard.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09DB96-DF54-4FE5-A96E-B3D9A4057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4105275"/>
            <a:ext cx="2286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E60F9E-B49C-4F6A-83B3-5279938AB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4105275"/>
            <a:ext cx="44005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6243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62434"/>
                </a:solidFill>
                <a:latin typeface="Arial"/>
                <a:ea typeface="Arial"/>
                <a:cs typeface="Arial"/>
              </a:rPr>
              <a:t>Live protected-read check recorded on Kali.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F869C3-41AA-452D-89B3-693842DA9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200275"/>
            <a:ext cx="2286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B07B4C-74CE-4E8A-AB97-62E6F6A64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200275"/>
            <a:ext cx="44005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6243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62434"/>
                </a:solidFill>
                <a:latin typeface="Arial"/>
                <a:ea typeface="Arial"/>
                <a:cs typeface="Arial"/>
              </a:rPr>
              <a:t>Red Hat Linux Audit documentation.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48214E-F783-4083-98B0-6902BC27D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152775"/>
            <a:ext cx="2286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3D6FDB7-B3D9-4F9C-B1AD-2A61D6D00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152775"/>
            <a:ext cx="44005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6243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62434"/>
                </a:solidFill>
                <a:latin typeface="Arial"/>
                <a:ea typeface="Arial"/>
                <a:cs typeface="Arial"/>
              </a:rPr>
              <a:t>SQLAlchemy 2.0 transaction documentation.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36E768E-4A44-4157-8038-AC745E4BD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105275"/>
            <a:ext cx="2286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376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3769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E574056-4598-4C91-81EC-31674AD81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105275"/>
            <a:ext cx="44005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6243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62434"/>
                </a:solidFill>
                <a:latin typeface="Arial"/>
                <a:ea typeface="Arial"/>
                <a:cs typeface="Arial"/>
              </a:rPr>
              <a:t>MySQL 8.4 foreign-key manual.</a:t>
            </a:r>
          </a:p>
        </p:txBody>
      </p:sp>
    </p:spTree>
    <p:extLst>
      <p:ext uri="{BB962C8B-B14F-4D97-AF65-F5344CB8AC3E}">
        <p14:creationId xmlns:p14="http://schemas.microsoft.com/office/powerpoint/2010/main" val="97379942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2026-10-02T15:54:24.8570000Z</dcterms:created>
  <dcterms:modified xsi:type="dcterms:W3CDTF">2026-10-02T15:54:24.8570000Z</dcterms:modified>
</coreProperties>
</file>